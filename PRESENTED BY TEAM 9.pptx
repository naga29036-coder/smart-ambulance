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almius Sans High Bold" charset="1" panose="00000000000000000000"/>
      <p:regular r:id="rId16"/>
    </p:embeddedFont>
    <p:embeddedFont>
      <p:font typeface="Circe Bold" charset="1" panose="020B0602020203020203"/>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2024616" y="-856908"/>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06199" y="5482423"/>
            <a:ext cx="8735031" cy="5350207"/>
          </a:xfrm>
          <a:custGeom>
            <a:avLst/>
            <a:gdLst/>
            <a:ahLst/>
            <a:cxnLst/>
            <a:rect r="r" b="b" t="t" l="l"/>
            <a:pathLst>
              <a:path h="5350207" w="8735031">
                <a:moveTo>
                  <a:pt x="0" y="0"/>
                </a:moveTo>
                <a:lnTo>
                  <a:pt x="8735032" y="0"/>
                </a:lnTo>
                <a:lnTo>
                  <a:pt x="8735032" y="5350207"/>
                </a:lnTo>
                <a:lnTo>
                  <a:pt x="0" y="5350207"/>
                </a:lnTo>
                <a:lnTo>
                  <a:pt x="0" y="0"/>
                </a:lnTo>
                <a:close/>
              </a:path>
            </a:pathLst>
          </a:custGeom>
          <a:blipFill>
            <a:blip r:embed="rId4"/>
            <a:stretch>
              <a:fillRect l="0" t="0" r="0" b="0"/>
            </a:stretch>
          </a:blipFill>
        </p:spPr>
      </p:sp>
      <p:sp>
        <p:nvSpPr>
          <p:cNvPr name="Freeform 4" id="4"/>
          <p:cNvSpPr/>
          <p:nvPr/>
        </p:nvSpPr>
        <p:spPr>
          <a:xfrm flipH="false" flipV="false" rot="0">
            <a:off x="629458" y="5764726"/>
            <a:ext cx="3741080" cy="2782428"/>
          </a:xfrm>
          <a:custGeom>
            <a:avLst/>
            <a:gdLst/>
            <a:ahLst/>
            <a:cxnLst/>
            <a:rect r="r" b="b" t="t" l="l"/>
            <a:pathLst>
              <a:path h="2782428" w="3741080">
                <a:moveTo>
                  <a:pt x="0" y="0"/>
                </a:moveTo>
                <a:lnTo>
                  <a:pt x="3741080" y="0"/>
                </a:lnTo>
                <a:lnTo>
                  <a:pt x="3741080" y="2782428"/>
                </a:lnTo>
                <a:lnTo>
                  <a:pt x="0" y="2782428"/>
                </a:lnTo>
                <a:lnTo>
                  <a:pt x="0" y="0"/>
                </a:lnTo>
                <a:close/>
              </a:path>
            </a:pathLst>
          </a:custGeom>
          <a:blipFill>
            <a:blip r:embed="rId5"/>
            <a:stretch>
              <a:fillRect l="0" t="0" r="0" b="0"/>
            </a:stretch>
          </a:blipFill>
        </p:spPr>
      </p:sp>
      <p:grpSp>
        <p:nvGrpSpPr>
          <p:cNvPr name="Group 5" id="5"/>
          <p:cNvGrpSpPr/>
          <p:nvPr/>
        </p:nvGrpSpPr>
        <p:grpSpPr>
          <a:xfrm rot="0">
            <a:off x="-1329281" y="1099384"/>
            <a:ext cx="2357981" cy="2357981"/>
            <a:chOff x="0" y="0"/>
            <a:chExt cx="673100" cy="673100"/>
          </a:xfrm>
        </p:grpSpPr>
        <p:sp>
          <p:nvSpPr>
            <p:cNvPr name="Freeform 6" id="6"/>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7" id="7"/>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8" id="8"/>
          <p:cNvGrpSpPr/>
          <p:nvPr/>
        </p:nvGrpSpPr>
        <p:grpSpPr>
          <a:xfrm rot="0">
            <a:off x="17109009" y="1829502"/>
            <a:ext cx="2357981" cy="2357981"/>
            <a:chOff x="0" y="0"/>
            <a:chExt cx="673100" cy="673100"/>
          </a:xfrm>
        </p:grpSpPr>
        <p:sp>
          <p:nvSpPr>
            <p:cNvPr name="Freeform 9" id="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0" id="10"/>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
        <p:nvSpPr>
          <p:cNvPr name="TextBox 11" id="11"/>
          <p:cNvSpPr txBox="true"/>
          <p:nvPr/>
        </p:nvSpPr>
        <p:spPr>
          <a:xfrm rot="0">
            <a:off x="3209548" y="1631306"/>
            <a:ext cx="12536157" cy="3851118"/>
          </a:xfrm>
          <a:prstGeom prst="rect">
            <a:avLst/>
          </a:prstGeom>
        </p:spPr>
        <p:txBody>
          <a:bodyPr anchor="t" rtlCol="false" tIns="0" lIns="0" bIns="0" rIns="0">
            <a:spAutoFit/>
          </a:bodyPr>
          <a:lstStyle/>
          <a:p>
            <a:pPr algn="ctr" marL="0" indent="0" lvl="0">
              <a:lnSpc>
                <a:spcPts val="9552"/>
              </a:lnSpc>
            </a:pPr>
            <a:r>
              <a:rPr lang="en-US" b="true" sz="10855">
                <a:solidFill>
                  <a:srgbClr val="34322B"/>
                </a:solidFill>
                <a:latin typeface="Calmius Sans High Bold"/>
                <a:ea typeface="Calmius Sans High Bold"/>
                <a:cs typeface="Calmius Sans High Bold"/>
                <a:sym typeface="Calmius Sans High Bold"/>
              </a:rPr>
              <a:t>SMART AMBULANCE</a:t>
            </a:r>
          </a:p>
          <a:p>
            <a:pPr algn="ctr" marL="0" indent="0" lvl="0">
              <a:lnSpc>
                <a:spcPts val="9552"/>
              </a:lnSpc>
            </a:pPr>
            <a:r>
              <a:rPr lang="en-US" b="true" sz="10855">
                <a:solidFill>
                  <a:srgbClr val="34322B"/>
                </a:solidFill>
                <a:latin typeface="Calmius Sans High Bold"/>
                <a:ea typeface="Calmius Sans High Bold"/>
                <a:cs typeface="Calmius Sans High Bold"/>
                <a:sym typeface="Calmius Sans High Bold"/>
              </a:rPr>
              <a:t>ROUTE SELECTION</a:t>
            </a:r>
          </a:p>
        </p:txBody>
      </p:sp>
      <p:sp>
        <p:nvSpPr>
          <p:cNvPr name="TextBox 12" id="12"/>
          <p:cNvSpPr txBox="true"/>
          <p:nvPr/>
        </p:nvSpPr>
        <p:spPr>
          <a:xfrm rot="0">
            <a:off x="6915301" y="1095375"/>
            <a:ext cx="5124649" cy="326275"/>
          </a:xfrm>
          <a:prstGeom prst="rect">
            <a:avLst/>
          </a:prstGeom>
        </p:spPr>
        <p:txBody>
          <a:bodyPr anchor="t" rtlCol="false" tIns="0" lIns="0" bIns="0" rIns="0">
            <a:spAutoFit/>
          </a:bodyPr>
          <a:lstStyle/>
          <a:p>
            <a:pPr algn="ctr" marL="0" indent="0" lvl="0">
              <a:lnSpc>
                <a:spcPts val="2321"/>
              </a:lnSpc>
            </a:pPr>
            <a:r>
              <a:rPr lang="en-US" b="true" sz="2637" spc="894">
                <a:solidFill>
                  <a:srgbClr val="34322B"/>
                </a:solidFill>
                <a:latin typeface="Circe Bold"/>
                <a:ea typeface="Circe Bold"/>
                <a:cs typeface="Circe Bold"/>
                <a:sym typeface="Circe Bold"/>
              </a:rPr>
              <a:t>TECHNICAL REPORT</a:t>
            </a:r>
          </a:p>
        </p:txBody>
      </p:sp>
      <p:sp>
        <p:nvSpPr>
          <p:cNvPr name="TextBox 13" id="13"/>
          <p:cNvSpPr txBox="true"/>
          <p:nvPr/>
        </p:nvSpPr>
        <p:spPr>
          <a:xfrm rot="0">
            <a:off x="12551699" y="8262301"/>
            <a:ext cx="6388011" cy="1771977"/>
          </a:xfrm>
          <a:prstGeom prst="rect">
            <a:avLst/>
          </a:prstGeom>
        </p:spPr>
        <p:txBody>
          <a:bodyPr anchor="t" rtlCol="false" tIns="0" lIns="0" bIns="0" rIns="0">
            <a:spAutoFit/>
          </a:bodyPr>
          <a:lstStyle/>
          <a:p>
            <a:pPr algn="ctr" marL="0" indent="0" lvl="0">
              <a:lnSpc>
                <a:spcPts val="2783"/>
              </a:lnSpc>
            </a:pPr>
            <a:r>
              <a:rPr lang="en-US" b="true" sz="3163">
                <a:solidFill>
                  <a:srgbClr val="34322B"/>
                </a:solidFill>
                <a:latin typeface="Circe Bold"/>
                <a:ea typeface="Circe Bold"/>
                <a:cs typeface="Circe Bold"/>
                <a:sym typeface="Circe Bold"/>
              </a:rPr>
              <a:t>PRESENTED BY</a:t>
            </a:r>
            <a:r>
              <a:rPr lang="en-US" b="true" sz="3163">
                <a:solidFill>
                  <a:srgbClr val="34322B"/>
                </a:solidFill>
                <a:latin typeface="Circe Bold"/>
                <a:ea typeface="Circe Bold"/>
                <a:cs typeface="Circe Bold"/>
                <a:sym typeface="Circe Bold"/>
              </a:rPr>
              <a:t> TEAM 9 :</a:t>
            </a:r>
          </a:p>
          <a:p>
            <a:pPr algn="ctr" marL="0" indent="0" lvl="0">
              <a:lnSpc>
                <a:spcPts val="2783"/>
              </a:lnSpc>
            </a:pPr>
            <a:r>
              <a:rPr lang="en-US" b="true" sz="3163">
                <a:solidFill>
                  <a:srgbClr val="34322B"/>
                </a:solidFill>
                <a:latin typeface="Circe Bold"/>
                <a:ea typeface="Circe Bold"/>
                <a:cs typeface="Circe Bold"/>
                <a:sym typeface="Circe Bold"/>
              </a:rPr>
              <a:t>-KUSUMA</a:t>
            </a:r>
          </a:p>
          <a:p>
            <a:pPr algn="ctr" marL="0" indent="0" lvl="0">
              <a:lnSpc>
                <a:spcPts val="2783"/>
              </a:lnSpc>
            </a:pPr>
            <a:r>
              <a:rPr lang="en-US" b="true" sz="3163">
                <a:solidFill>
                  <a:srgbClr val="34322B"/>
                </a:solidFill>
                <a:latin typeface="Circe Bold"/>
                <a:ea typeface="Circe Bold"/>
                <a:cs typeface="Circe Bold"/>
                <a:sym typeface="Circe Bold"/>
              </a:rPr>
              <a:t>-AKSHAYA</a:t>
            </a:r>
          </a:p>
          <a:p>
            <a:pPr algn="ctr" marL="0" indent="0" lvl="0">
              <a:lnSpc>
                <a:spcPts val="2783"/>
              </a:lnSpc>
            </a:pPr>
            <a:r>
              <a:rPr lang="en-US" b="true" sz="3163">
                <a:solidFill>
                  <a:srgbClr val="34322B"/>
                </a:solidFill>
                <a:latin typeface="Circe Bold"/>
                <a:ea typeface="Circe Bold"/>
                <a:cs typeface="Circe Bold"/>
                <a:sym typeface="Circe Bold"/>
              </a:rPr>
              <a:t>-KEERTHANA</a:t>
            </a:r>
          </a:p>
          <a:p>
            <a:pPr algn="ctr" marL="0" indent="0" lvl="0">
              <a:lnSpc>
                <a:spcPts val="2783"/>
              </a:lnSpc>
            </a:pPr>
            <a:r>
              <a:rPr lang="en-US" b="true" sz="3163">
                <a:solidFill>
                  <a:srgbClr val="34322B"/>
                </a:solidFill>
                <a:latin typeface="Circe Bold"/>
                <a:ea typeface="Circe Bold"/>
                <a:cs typeface="Circe Bold"/>
                <a:sym typeface="Circe Bold"/>
              </a:rPr>
              <a:t>-A.MAHESH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12344" y="2123352"/>
            <a:ext cx="6649583" cy="6872954"/>
          </a:xfrm>
          <a:custGeom>
            <a:avLst/>
            <a:gdLst/>
            <a:ahLst/>
            <a:cxnLst/>
            <a:rect r="r" b="b" t="t" l="l"/>
            <a:pathLst>
              <a:path h="6872954" w="6649583">
                <a:moveTo>
                  <a:pt x="0" y="0"/>
                </a:moveTo>
                <a:lnTo>
                  <a:pt x="6649583" y="0"/>
                </a:lnTo>
                <a:lnTo>
                  <a:pt x="6649583" y="6872954"/>
                </a:lnTo>
                <a:lnTo>
                  <a:pt x="0" y="6872954"/>
                </a:lnTo>
                <a:lnTo>
                  <a:pt x="0" y="0"/>
                </a:lnTo>
                <a:close/>
              </a:path>
            </a:pathLst>
          </a:custGeom>
          <a:blipFill>
            <a:blip r:embed="rId4"/>
            <a:stretch>
              <a:fillRect l="0" t="0" r="0" b="0"/>
            </a:stretch>
          </a:blipFill>
        </p:spPr>
      </p:sp>
      <p:sp>
        <p:nvSpPr>
          <p:cNvPr name="TextBox 4" id="4"/>
          <p:cNvSpPr txBox="true"/>
          <p:nvPr/>
        </p:nvSpPr>
        <p:spPr>
          <a:xfrm rot="0">
            <a:off x="7866385" y="1747750"/>
            <a:ext cx="9392915" cy="2357628"/>
          </a:xfrm>
          <a:prstGeom prst="rect">
            <a:avLst/>
          </a:prstGeom>
        </p:spPr>
        <p:txBody>
          <a:bodyPr anchor="t" rtlCol="false" tIns="0" lIns="0" bIns="0" rIns="0">
            <a:spAutoFit/>
          </a:bodyPr>
          <a:lstStyle/>
          <a:p>
            <a:pPr algn="r" marL="0" indent="0" lvl="0">
              <a:lnSpc>
                <a:spcPts val="8563"/>
              </a:lnSpc>
            </a:pPr>
            <a:r>
              <a:rPr lang="en-US" b="true" sz="9731">
                <a:solidFill>
                  <a:srgbClr val="34322B"/>
                </a:solidFill>
                <a:latin typeface="Calmius Sans High Bold"/>
                <a:ea typeface="Calmius Sans High Bold"/>
                <a:cs typeface="Calmius Sans High Bold"/>
                <a:sym typeface="Calmius Sans High Bold"/>
              </a:rPr>
              <a:t>ABSTRACT &amp; INTRODUCTION</a:t>
            </a:r>
          </a:p>
        </p:txBody>
      </p:sp>
      <p:sp>
        <p:nvSpPr>
          <p:cNvPr name="TextBox 5" id="5"/>
          <p:cNvSpPr txBox="true"/>
          <p:nvPr/>
        </p:nvSpPr>
        <p:spPr>
          <a:xfrm rot="0">
            <a:off x="7385017" y="4456627"/>
            <a:ext cx="9874283" cy="4817746"/>
          </a:xfrm>
          <a:prstGeom prst="rect">
            <a:avLst/>
          </a:prstGeom>
        </p:spPr>
        <p:txBody>
          <a:bodyPr anchor="t" rtlCol="false" tIns="0" lIns="0" bIns="0" rIns="0">
            <a:spAutoFit/>
          </a:bodyPr>
          <a:lstStyle/>
          <a:p>
            <a:pPr algn="just" marL="0" indent="0" lvl="0">
              <a:lnSpc>
                <a:spcPts val="2725"/>
              </a:lnSpc>
            </a:pPr>
            <a:r>
              <a:rPr lang="en-US" b="true" sz="2571">
                <a:solidFill>
                  <a:srgbClr val="34322B"/>
                </a:solidFill>
                <a:latin typeface="Circe Bold"/>
                <a:ea typeface="Circe Bold"/>
                <a:cs typeface="Circe Bold"/>
                <a:sym typeface="Circe Bold"/>
              </a:rPr>
              <a:t>India faces a critical emergency response gap — with over 1.5 lakh road accidents and millions of medical emergencies annually, delayed ambulance dispatch costs lives. This project proposes an intelligent system to select the optimal ambulance and route for each emergency request by evaluating four key parameters: patient severity, GPS-based distance, real-time traffic conditions, and live ambulance availability.</a:t>
            </a:r>
          </a:p>
          <a:p>
            <a:pPr algn="just" marL="0" indent="0" lvl="0">
              <a:lnSpc>
                <a:spcPts val="2725"/>
              </a:lnSpc>
            </a:pPr>
            <a:r>
              <a:rPr lang="en-US" b="true" sz="2571">
                <a:solidFill>
                  <a:srgbClr val="34322B"/>
                </a:solidFill>
                <a:latin typeface="Circe Bold"/>
                <a:ea typeface="Circe Bold"/>
                <a:cs typeface="Circe Bold"/>
                <a:sym typeface="Circe Bold"/>
              </a:rPr>
              <a:t>Using priority-based algorithms and mapping APIs tailored to Indian road networks, the system ensures the nearest, most suitable ambulance reaches the patient via the fastest available route. The solution is designed for Indian cities where traffic congestion, narrow lanes, and high call volumes challenge traditional dispatch methods — enabling faster response, better resource utilisation, and ultimately, saving more lives.</a:t>
            </a:r>
          </a:p>
        </p:txBody>
      </p:sp>
      <p:grpSp>
        <p:nvGrpSpPr>
          <p:cNvPr name="Group 6" id="6"/>
          <p:cNvGrpSpPr/>
          <p:nvPr/>
        </p:nvGrpSpPr>
        <p:grpSpPr>
          <a:xfrm rot="0">
            <a:off x="1561115" y="-1329281"/>
            <a:ext cx="2357981" cy="2357981"/>
            <a:chOff x="0" y="0"/>
            <a:chExt cx="673100" cy="673100"/>
          </a:xfrm>
        </p:grpSpPr>
        <p:sp>
          <p:nvSpPr>
            <p:cNvPr name="Freeform 7" id="7"/>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8" id="8"/>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9" id="9"/>
          <p:cNvGrpSpPr/>
          <p:nvPr/>
        </p:nvGrpSpPr>
        <p:grpSpPr>
          <a:xfrm rot="0">
            <a:off x="13816985" y="9258300"/>
            <a:ext cx="2357981" cy="2357981"/>
            <a:chOff x="0" y="0"/>
            <a:chExt cx="673100" cy="673100"/>
          </a:xfrm>
        </p:grpSpPr>
        <p:sp>
          <p:nvSpPr>
            <p:cNvPr name="Freeform 10" id="10"/>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1" id="11"/>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1084766" y="4800566"/>
            <a:ext cx="6832336" cy="4121003"/>
            <a:chOff x="0" y="0"/>
            <a:chExt cx="969371" cy="584687"/>
          </a:xfrm>
        </p:grpSpPr>
        <p:sp>
          <p:nvSpPr>
            <p:cNvPr name="Freeform 4" id="4"/>
            <p:cNvSpPr/>
            <p:nvPr/>
          </p:nvSpPr>
          <p:spPr>
            <a:xfrm flipH="false" flipV="false" rot="0">
              <a:off x="0" y="0"/>
              <a:ext cx="969371" cy="584687"/>
            </a:xfrm>
            <a:custGeom>
              <a:avLst/>
              <a:gdLst/>
              <a:ahLst/>
              <a:cxnLst/>
              <a:rect r="r" b="b" t="t" l="l"/>
              <a:pathLst>
                <a:path h="584687" w="969371">
                  <a:moveTo>
                    <a:pt x="0" y="0"/>
                  </a:moveTo>
                  <a:lnTo>
                    <a:pt x="969371" y="0"/>
                  </a:lnTo>
                  <a:lnTo>
                    <a:pt x="969371" y="584687"/>
                  </a:lnTo>
                  <a:lnTo>
                    <a:pt x="0" y="584687"/>
                  </a:lnTo>
                  <a:close/>
                </a:path>
              </a:pathLst>
            </a:custGeom>
            <a:blipFill>
              <a:blip r:embed="rId4"/>
              <a:stretch>
                <a:fillRect l="0" t="-1499" r="0" b="-1499"/>
              </a:stretch>
            </a:blipFill>
          </p:spPr>
        </p:sp>
      </p:grpSp>
      <p:sp>
        <p:nvSpPr>
          <p:cNvPr name="Freeform 5" id="5"/>
          <p:cNvSpPr/>
          <p:nvPr/>
        </p:nvSpPr>
        <p:spPr>
          <a:xfrm flipH="false" flipV="false" rot="0">
            <a:off x="12946500" y="337775"/>
            <a:ext cx="5171046" cy="3658515"/>
          </a:xfrm>
          <a:custGeom>
            <a:avLst/>
            <a:gdLst/>
            <a:ahLst/>
            <a:cxnLst/>
            <a:rect r="r" b="b" t="t" l="l"/>
            <a:pathLst>
              <a:path h="3658515" w="5171046">
                <a:moveTo>
                  <a:pt x="0" y="0"/>
                </a:moveTo>
                <a:lnTo>
                  <a:pt x="5171046" y="0"/>
                </a:lnTo>
                <a:lnTo>
                  <a:pt x="5171046" y="3658515"/>
                </a:lnTo>
                <a:lnTo>
                  <a:pt x="0" y="3658515"/>
                </a:lnTo>
                <a:lnTo>
                  <a:pt x="0" y="0"/>
                </a:lnTo>
                <a:close/>
              </a:path>
            </a:pathLst>
          </a:custGeom>
          <a:blipFill>
            <a:blip r:embed="rId5"/>
            <a:stretch>
              <a:fillRect l="0" t="0" r="0" b="0"/>
            </a:stretch>
          </a:blipFill>
        </p:spPr>
      </p:sp>
      <p:sp>
        <p:nvSpPr>
          <p:cNvPr name="TextBox 6" id="6"/>
          <p:cNvSpPr txBox="true"/>
          <p:nvPr/>
        </p:nvSpPr>
        <p:spPr>
          <a:xfrm rot="0">
            <a:off x="615479" y="1475676"/>
            <a:ext cx="12536157" cy="2241106"/>
          </a:xfrm>
          <a:prstGeom prst="rect">
            <a:avLst/>
          </a:prstGeom>
        </p:spPr>
        <p:txBody>
          <a:bodyPr anchor="t" rtlCol="false" tIns="0" lIns="0" bIns="0" rIns="0">
            <a:spAutoFit/>
          </a:bodyPr>
          <a:lstStyle/>
          <a:p>
            <a:pPr algn="l" marL="0" indent="0" lvl="0">
              <a:lnSpc>
                <a:spcPts val="8102"/>
              </a:lnSpc>
            </a:pPr>
            <a:r>
              <a:rPr lang="en-US" b="true" sz="9207">
                <a:solidFill>
                  <a:srgbClr val="34322B"/>
                </a:solidFill>
                <a:latin typeface="Calmius Sans High Bold"/>
                <a:ea typeface="Calmius Sans High Bold"/>
                <a:cs typeface="Calmius Sans High Bold"/>
                <a:sym typeface="Calmius Sans High Bold"/>
              </a:rPr>
              <a:t>PROBLEM STATEMENT &amp; OBJECTIVES</a:t>
            </a:r>
          </a:p>
        </p:txBody>
      </p:sp>
      <p:sp>
        <p:nvSpPr>
          <p:cNvPr name="TextBox 7" id="7"/>
          <p:cNvSpPr txBox="true"/>
          <p:nvPr/>
        </p:nvSpPr>
        <p:spPr>
          <a:xfrm rot="0">
            <a:off x="854712" y="4403697"/>
            <a:ext cx="9874283" cy="5341138"/>
          </a:xfrm>
          <a:prstGeom prst="rect">
            <a:avLst/>
          </a:prstGeom>
        </p:spPr>
        <p:txBody>
          <a:bodyPr anchor="t" rtlCol="false" tIns="0" lIns="0" bIns="0" rIns="0">
            <a:spAutoFit/>
          </a:bodyPr>
          <a:lstStyle/>
          <a:p>
            <a:pPr algn="just" marL="0" indent="0" lvl="0">
              <a:lnSpc>
                <a:spcPts val="3264"/>
              </a:lnSpc>
            </a:pPr>
            <a:r>
              <a:rPr lang="en-US" b="true" sz="3080">
                <a:solidFill>
                  <a:srgbClr val="34322B"/>
                </a:solidFill>
                <a:latin typeface="Circe Bold"/>
                <a:ea typeface="Circe Bold"/>
                <a:cs typeface="Circe Bold"/>
                <a:sym typeface="Circe Bold"/>
              </a:rPr>
              <a:t>Problem: Delayed ambulance dispatch and inefficient routing in Indian cities leads to preventable fatalities. Current systems lack real-time integration of severity triage, traffic conditions, and ambulance availability.</a:t>
            </a:r>
          </a:p>
          <a:p>
            <a:pPr algn="just" marL="0" indent="0" lvl="0">
              <a:lnSpc>
                <a:spcPts val="3264"/>
              </a:lnSpc>
            </a:pPr>
            <a:r>
              <a:rPr lang="en-US" b="true" sz="3080">
                <a:solidFill>
                  <a:srgbClr val="34322B"/>
                </a:solidFill>
                <a:latin typeface="Circe Bold"/>
                <a:ea typeface="Circe Bold"/>
                <a:cs typeface="Circe Bold"/>
                <a:sym typeface="Circe Bold"/>
              </a:rPr>
              <a:t>Objectives:</a:t>
            </a:r>
          </a:p>
          <a:p>
            <a:pPr algn="just" marL="0" indent="0" lvl="0">
              <a:lnSpc>
                <a:spcPts val="3264"/>
              </a:lnSpc>
            </a:pPr>
            <a:r>
              <a:rPr lang="en-US" b="true" sz="3080">
                <a:solidFill>
                  <a:srgbClr val="34322B"/>
                </a:solidFill>
                <a:latin typeface="Circe Bold"/>
                <a:ea typeface="Circe Bold"/>
                <a:cs typeface="Circe Bold"/>
                <a:sym typeface="Circe Bold"/>
              </a:rPr>
              <a:t>• Prioritize emergencies by medical severity level</a:t>
            </a:r>
          </a:p>
          <a:p>
            <a:pPr algn="just" marL="0" indent="0" lvl="0">
              <a:lnSpc>
                <a:spcPts val="3264"/>
              </a:lnSpc>
            </a:pPr>
            <a:r>
              <a:rPr lang="en-US" b="true" sz="3080">
                <a:solidFill>
                  <a:srgbClr val="34322B"/>
                </a:solidFill>
                <a:latin typeface="Circe Bold"/>
                <a:ea typeface="Circe Bold"/>
                <a:cs typeface="Circe Bold"/>
                <a:sym typeface="Circe Bold"/>
              </a:rPr>
              <a:t>• Minimize ambulance travel time using optimal routing</a:t>
            </a:r>
          </a:p>
          <a:p>
            <a:pPr algn="just" marL="0" indent="0" lvl="0">
              <a:lnSpc>
                <a:spcPts val="3264"/>
              </a:lnSpc>
            </a:pPr>
            <a:r>
              <a:rPr lang="en-US" b="true" sz="3080">
                <a:solidFill>
                  <a:srgbClr val="34322B"/>
                </a:solidFill>
                <a:latin typeface="Circe Bold"/>
                <a:ea typeface="Circe Bold"/>
                <a:cs typeface="Circe Bold"/>
                <a:sym typeface="Circe Bold"/>
              </a:rPr>
              <a:t>• Integrate real-time traffic and road network data</a:t>
            </a:r>
          </a:p>
          <a:p>
            <a:pPr algn="just" marL="0" indent="0" lvl="0">
              <a:lnSpc>
                <a:spcPts val="3264"/>
              </a:lnSpc>
            </a:pPr>
            <a:r>
              <a:rPr lang="en-US" b="true" sz="3080">
                <a:solidFill>
                  <a:srgbClr val="34322B"/>
                </a:solidFill>
                <a:latin typeface="Circe Bold"/>
                <a:ea typeface="Circe Bold"/>
                <a:cs typeface="Circe Bold"/>
                <a:sym typeface="Circe Bold"/>
              </a:rPr>
              <a:t>• Monitor ambulance fleet availability dynamically</a:t>
            </a:r>
          </a:p>
          <a:p>
            <a:pPr algn="just" marL="0" indent="0" lvl="0">
              <a:lnSpc>
                <a:spcPts val="3264"/>
              </a:lnSpc>
            </a:pPr>
            <a:r>
              <a:rPr lang="en-US" b="true" sz="3080">
                <a:solidFill>
                  <a:srgbClr val="34322B"/>
                </a:solidFill>
                <a:latin typeface="Circe Bold"/>
                <a:ea typeface="Circe Bold"/>
                <a:cs typeface="Circe Bold"/>
                <a:sym typeface="Circe Bold"/>
              </a:rPr>
              <a:t>Scope: Indian urban and semi-urban road networks including cities such as Mumbai, Delhi, Bengaluru, and Chennai, leveraging local map APIs and traffic data sources.</a:t>
            </a:r>
          </a:p>
        </p:txBody>
      </p:sp>
      <p:grpSp>
        <p:nvGrpSpPr>
          <p:cNvPr name="Group 8" id="8"/>
          <p:cNvGrpSpPr/>
          <p:nvPr/>
        </p:nvGrpSpPr>
        <p:grpSpPr>
          <a:xfrm rot="0">
            <a:off x="7619241" y="9258300"/>
            <a:ext cx="2357981" cy="2357981"/>
            <a:chOff x="0" y="0"/>
            <a:chExt cx="673100" cy="673100"/>
          </a:xfrm>
        </p:grpSpPr>
        <p:sp>
          <p:nvSpPr>
            <p:cNvPr name="Freeform 9" id="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0" id="10"/>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87537" y="6590864"/>
            <a:ext cx="3266134" cy="3691668"/>
          </a:xfrm>
          <a:custGeom>
            <a:avLst/>
            <a:gdLst/>
            <a:ahLst/>
            <a:cxnLst/>
            <a:rect r="r" b="b" t="t" l="l"/>
            <a:pathLst>
              <a:path h="3691668" w="3266134">
                <a:moveTo>
                  <a:pt x="0" y="0"/>
                </a:moveTo>
                <a:lnTo>
                  <a:pt x="3266134" y="0"/>
                </a:lnTo>
                <a:lnTo>
                  <a:pt x="3266134" y="3691668"/>
                </a:lnTo>
                <a:lnTo>
                  <a:pt x="0" y="3691668"/>
                </a:lnTo>
                <a:lnTo>
                  <a:pt x="0" y="0"/>
                </a:lnTo>
                <a:close/>
              </a:path>
            </a:pathLst>
          </a:custGeom>
          <a:blipFill>
            <a:blip r:embed="rId4"/>
            <a:stretch>
              <a:fillRect l="-193" t="0" r="-193" b="0"/>
            </a:stretch>
          </a:blipFill>
        </p:spPr>
      </p:sp>
      <p:sp>
        <p:nvSpPr>
          <p:cNvPr name="Freeform 4" id="4"/>
          <p:cNvSpPr/>
          <p:nvPr/>
        </p:nvSpPr>
        <p:spPr>
          <a:xfrm flipH="false" flipV="false" rot="0">
            <a:off x="13032044" y="6415575"/>
            <a:ext cx="3546140" cy="3762483"/>
          </a:xfrm>
          <a:custGeom>
            <a:avLst/>
            <a:gdLst/>
            <a:ahLst/>
            <a:cxnLst/>
            <a:rect r="r" b="b" t="t" l="l"/>
            <a:pathLst>
              <a:path h="3762483" w="3546140">
                <a:moveTo>
                  <a:pt x="0" y="0"/>
                </a:moveTo>
                <a:lnTo>
                  <a:pt x="3546141" y="0"/>
                </a:lnTo>
                <a:lnTo>
                  <a:pt x="3546141" y="3762483"/>
                </a:lnTo>
                <a:lnTo>
                  <a:pt x="0" y="3762483"/>
                </a:lnTo>
                <a:lnTo>
                  <a:pt x="0" y="0"/>
                </a:lnTo>
                <a:close/>
              </a:path>
            </a:pathLst>
          </a:custGeom>
          <a:blipFill>
            <a:blip r:embed="rId5"/>
            <a:stretch>
              <a:fillRect l="0" t="0" r="0" b="0"/>
            </a:stretch>
          </a:blipFill>
        </p:spPr>
      </p:sp>
      <p:sp>
        <p:nvSpPr>
          <p:cNvPr name="Freeform 5" id="5"/>
          <p:cNvSpPr/>
          <p:nvPr/>
        </p:nvSpPr>
        <p:spPr>
          <a:xfrm flipH="false" flipV="false" rot="0">
            <a:off x="796759" y="6311101"/>
            <a:ext cx="3960337" cy="3971431"/>
          </a:xfrm>
          <a:custGeom>
            <a:avLst/>
            <a:gdLst/>
            <a:ahLst/>
            <a:cxnLst/>
            <a:rect r="r" b="b" t="t" l="l"/>
            <a:pathLst>
              <a:path h="3971431" w="3960337">
                <a:moveTo>
                  <a:pt x="0" y="0"/>
                </a:moveTo>
                <a:lnTo>
                  <a:pt x="3960337" y="0"/>
                </a:lnTo>
                <a:lnTo>
                  <a:pt x="3960337" y="3971431"/>
                </a:lnTo>
                <a:lnTo>
                  <a:pt x="0" y="3971431"/>
                </a:lnTo>
                <a:lnTo>
                  <a:pt x="0" y="0"/>
                </a:lnTo>
                <a:close/>
              </a:path>
            </a:pathLst>
          </a:custGeom>
          <a:blipFill>
            <a:blip r:embed="rId6"/>
            <a:stretch>
              <a:fillRect l="0" t="0" r="0" b="0"/>
            </a:stretch>
          </a:blipFill>
        </p:spPr>
      </p:sp>
      <p:sp>
        <p:nvSpPr>
          <p:cNvPr name="TextBox 6" id="6"/>
          <p:cNvSpPr txBox="true"/>
          <p:nvPr/>
        </p:nvSpPr>
        <p:spPr>
          <a:xfrm rot="0">
            <a:off x="2000588" y="1181100"/>
            <a:ext cx="14286824" cy="1650109"/>
          </a:xfrm>
          <a:prstGeom prst="rect">
            <a:avLst/>
          </a:prstGeom>
        </p:spPr>
        <p:txBody>
          <a:bodyPr anchor="t" rtlCol="false" tIns="0" lIns="0" bIns="0" rIns="0">
            <a:spAutoFit/>
          </a:bodyPr>
          <a:lstStyle/>
          <a:p>
            <a:pPr algn="ctr" marL="0" indent="0" lvl="0">
              <a:lnSpc>
                <a:spcPts val="6030"/>
              </a:lnSpc>
            </a:pPr>
            <a:r>
              <a:rPr lang="en-US" b="true" sz="6853">
                <a:solidFill>
                  <a:srgbClr val="34322B"/>
                </a:solidFill>
                <a:latin typeface="Calmius Sans High Bold"/>
                <a:ea typeface="Calmius Sans High Bold"/>
                <a:cs typeface="Calmius Sans High Bold"/>
                <a:sym typeface="Calmius Sans High Bold"/>
              </a:rPr>
              <a:t>FEATURES &amp; FUNCTIONAL REQUIREMENTS</a:t>
            </a:r>
          </a:p>
        </p:txBody>
      </p:sp>
      <p:sp>
        <p:nvSpPr>
          <p:cNvPr name="TextBox 7" id="7"/>
          <p:cNvSpPr txBox="true"/>
          <p:nvPr/>
        </p:nvSpPr>
        <p:spPr>
          <a:xfrm rot="0">
            <a:off x="1886162" y="2869309"/>
            <a:ext cx="14401250" cy="3528624"/>
          </a:xfrm>
          <a:prstGeom prst="rect">
            <a:avLst/>
          </a:prstGeom>
        </p:spPr>
        <p:txBody>
          <a:bodyPr anchor="t" rtlCol="false" tIns="0" lIns="0" bIns="0" rIns="0">
            <a:spAutoFit/>
          </a:bodyPr>
          <a:lstStyle/>
          <a:p>
            <a:pPr algn="just" marL="0" indent="0" lvl="0">
              <a:lnSpc>
                <a:spcPts val="3100"/>
              </a:lnSpc>
            </a:pPr>
            <a:r>
              <a:rPr lang="en-US" b="true" sz="2924">
                <a:solidFill>
                  <a:srgbClr val="34322B"/>
                </a:solidFill>
                <a:latin typeface="Circe Bold"/>
                <a:ea typeface="Circe Bold"/>
                <a:cs typeface="Circe Bold"/>
                <a:sym typeface="Circe Bold"/>
              </a:rPr>
              <a:t>Emergency Request Intake: Captures patient location via GPS on Indian road networks (NH, SH, city roads). Severity Classification: AUTO-triages calls as Critical, Urgent, or Stable using symptom data. Ambulance Tracking: Real-time vehicle tracking on Indian city maps (Delhi, Mumbai, Bengaluru grids). Availability Checker: Monitors ALS/BLS unit status, crew readiness &amp; equipment. Route Selection: Selects fastest route via OSRM/Google Maps India API with traffic &amp; signal data. Traffic-Aware ETA: Calculates dynamic ETA using live congestion on Indian arterial roads. Hospital Mapping: Nearest NABH-accredited hospitals displayed with bed availability. Dispatcher Alerts: Instant push notifications &amp; dashboard alerts to control room operators.</a:t>
            </a:r>
          </a:p>
        </p:txBody>
      </p:sp>
      <p:grpSp>
        <p:nvGrpSpPr>
          <p:cNvPr name="Group 8" id="8"/>
          <p:cNvGrpSpPr/>
          <p:nvPr/>
        </p:nvGrpSpPr>
        <p:grpSpPr>
          <a:xfrm rot="0">
            <a:off x="17259300" y="1231520"/>
            <a:ext cx="2357981" cy="2357981"/>
            <a:chOff x="0" y="0"/>
            <a:chExt cx="673100" cy="673100"/>
          </a:xfrm>
        </p:grpSpPr>
        <p:sp>
          <p:nvSpPr>
            <p:cNvPr name="Freeform 9" id="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0" id="10"/>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11" id="11"/>
          <p:cNvGrpSpPr/>
          <p:nvPr/>
        </p:nvGrpSpPr>
        <p:grpSpPr>
          <a:xfrm rot="0">
            <a:off x="-1328943" y="669193"/>
            <a:ext cx="2357981" cy="2357981"/>
            <a:chOff x="0" y="0"/>
            <a:chExt cx="673100" cy="673100"/>
          </a:xfrm>
        </p:grpSpPr>
        <p:sp>
          <p:nvSpPr>
            <p:cNvPr name="Freeform 12" id="12"/>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3" id="13"/>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310892" y="1140976"/>
            <a:ext cx="8981821" cy="8005048"/>
          </a:xfrm>
          <a:custGeom>
            <a:avLst/>
            <a:gdLst/>
            <a:ahLst/>
            <a:cxnLst/>
            <a:rect r="r" b="b" t="t" l="l"/>
            <a:pathLst>
              <a:path h="8005048" w="8981821">
                <a:moveTo>
                  <a:pt x="0" y="0"/>
                </a:moveTo>
                <a:lnTo>
                  <a:pt x="8981821" y="0"/>
                </a:lnTo>
                <a:lnTo>
                  <a:pt x="8981821" y="8005048"/>
                </a:lnTo>
                <a:lnTo>
                  <a:pt x="0" y="8005048"/>
                </a:lnTo>
                <a:lnTo>
                  <a:pt x="0" y="0"/>
                </a:lnTo>
                <a:close/>
              </a:path>
            </a:pathLst>
          </a:custGeom>
          <a:blipFill>
            <a:blip r:embed="rId4"/>
            <a:stretch>
              <a:fillRect l="0" t="0" r="0" b="0"/>
            </a:stretch>
          </a:blipFill>
        </p:spPr>
      </p:sp>
      <p:sp>
        <p:nvSpPr>
          <p:cNvPr name="TextBox 4" id="4"/>
          <p:cNvSpPr txBox="true"/>
          <p:nvPr/>
        </p:nvSpPr>
        <p:spPr>
          <a:xfrm rot="0">
            <a:off x="202259" y="895294"/>
            <a:ext cx="12536157" cy="2485226"/>
          </a:xfrm>
          <a:prstGeom prst="rect">
            <a:avLst/>
          </a:prstGeom>
        </p:spPr>
        <p:txBody>
          <a:bodyPr anchor="t" rtlCol="false" tIns="0" lIns="0" bIns="0" rIns="0">
            <a:spAutoFit/>
          </a:bodyPr>
          <a:lstStyle/>
          <a:p>
            <a:pPr algn="l" marL="0" indent="0" lvl="0">
              <a:lnSpc>
                <a:spcPts val="9057"/>
              </a:lnSpc>
            </a:pPr>
            <a:r>
              <a:rPr lang="en-US" b="true" sz="10292">
                <a:solidFill>
                  <a:srgbClr val="34322B"/>
                </a:solidFill>
                <a:latin typeface="Calmius Sans High Bold"/>
                <a:ea typeface="Calmius Sans High Bold"/>
                <a:cs typeface="Calmius Sans High Bold"/>
                <a:sym typeface="Calmius Sans High Bold"/>
              </a:rPr>
              <a:t>ALGORITHMS &amp;</a:t>
            </a:r>
          </a:p>
          <a:p>
            <a:pPr algn="l" marL="0" indent="0" lvl="0">
              <a:lnSpc>
                <a:spcPts val="9057"/>
              </a:lnSpc>
            </a:pPr>
            <a:r>
              <a:rPr lang="en-US" b="true" sz="10292">
                <a:solidFill>
                  <a:srgbClr val="34322B"/>
                </a:solidFill>
                <a:latin typeface="Calmius Sans High Bold"/>
                <a:ea typeface="Calmius Sans High Bold"/>
                <a:cs typeface="Calmius Sans High Bold"/>
                <a:sym typeface="Calmius Sans High Bold"/>
              </a:rPr>
              <a:t>METHODOLOGY</a:t>
            </a:r>
          </a:p>
        </p:txBody>
      </p:sp>
      <p:sp>
        <p:nvSpPr>
          <p:cNvPr name="TextBox 5" id="5"/>
          <p:cNvSpPr txBox="true"/>
          <p:nvPr/>
        </p:nvSpPr>
        <p:spPr>
          <a:xfrm rot="0">
            <a:off x="397995" y="4680031"/>
            <a:ext cx="9110359" cy="2006660"/>
          </a:xfrm>
          <a:prstGeom prst="rect">
            <a:avLst/>
          </a:prstGeom>
        </p:spPr>
        <p:txBody>
          <a:bodyPr anchor="t" rtlCol="false" tIns="0" lIns="0" bIns="0" rIns="0">
            <a:spAutoFit/>
          </a:bodyPr>
          <a:lstStyle/>
          <a:p>
            <a:pPr algn="just" marL="0" indent="0" lvl="0">
              <a:lnSpc>
                <a:spcPts val="2653"/>
              </a:lnSpc>
            </a:pPr>
            <a:r>
              <a:rPr lang="en-US" b="true" sz="2503">
                <a:solidFill>
                  <a:srgbClr val="34322B"/>
                </a:solidFill>
                <a:latin typeface="Circe Bold"/>
                <a:ea typeface="Circe Bold"/>
                <a:cs typeface="Circe Bold"/>
                <a:sym typeface="Circe Bold"/>
              </a:rPr>
              <a:t>Severity-Based Assignment: Incoming emergency requests are scored using a weighted formula — Severity (40%) + Distance (30%) + Traffic Index (20%) + Ambulance Availability (10%). Critical cases (P1) on NH-48, NH-44 or SH-17 are auto-prioritized. Nearest available ambulance within 5 km radius is dispatched first using Dijkstra's shortest-path algorithm on city road graph.</a:t>
            </a:r>
          </a:p>
        </p:txBody>
      </p:sp>
      <p:sp>
        <p:nvSpPr>
          <p:cNvPr name="TextBox 6" id="6"/>
          <p:cNvSpPr txBox="true"/>
          <p:nvPr/>
        </p:nvSpPr>
        <p:spPr>
          <a:xfrm rot="0">
            <a:off x="397995" y="7251640"/>
            <a:ext cx="9110359" cy="2006660"/>
          </a:xfrm>
          <a:prstGeom prst="rect">
            <a:avLst/>
          </a:prstGeom>
        </p:spPr>
        <p:txBody>
          <a:bodyPr anchor="t" rtlCol="false" tIns="0" lIns="0" bIns="0" rIns="0">
            <a:spAutoFit/>
          </a:bodyPr>
          <a:lstStyle/>
          <a:p>
            <a:pPr algn="just" marL="0" indent="0" lvl="0">
              <a:lnSpc>
                <a:spcPts val="2653"/>
              </a:lnSpc>
            </a:pPr>
            <a:r>
              <a:rPr lang="en-US" b="true" sz="2503">
                <a:solidFill>
                  <a:srgbClr val="34322B"/>
                </a:solidFill>
                <a:latin typeface="Circe Bold"/>
                <a:ea typeface="Circe Bold"/>
                <a:cs typeface="Circe Bold"/>
                <a:sym typeface="Circe Bold"/>
              </a:rPr>
              <a:t>Route Scoring (Indian Format): Route A — NH-48 via AIIMS Flyover → Ring Road → Safdarjung Hospital (6.2 km, ~9 min). Route B — SH-17 via Connaught Place → Janpath → LNJP Hospital (4.8 km, ~12 min, high traffic). Live traffic API updates scores every 30 sec. Lowest weighted score route is selected and relayed to driver with turn-by-turn km-based directions.</a:t>
            </a:r>
          </a:p>
        </p:txBody>
      </p:sp>
      <p:grpSp>
        <p:nvGrpSpPr>
          <p:cNvPr name="Group 7" id="7"/>
          <p:cNvGrpSpPr/>
          <p:nvPr/>
        </p:nvGrpSpPr>
        <p:grpSpPr>
          <a:xfrm rot="0">
            <a:off x="9310892" y="-1329281"/>
            <a:ext cx="2357981" cy="2357981"/>
            <a:chOff x="0" y="0"/>
            <a:chExt cx="673100" cy="673100"/>
          </a:xfrm>
        </p:grpSpPr>
        <p:sp>
          <p:nvSpPr>
            <p:cNvPr name="Freeform 8" id="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9" id="9"/>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10" id="10"/>
          <p:cNvGrpSpPr/>
          <p:nvPr/>
        </p:nvGrpSpPr>
        <p:grpSpPr>
          <a:xfrm rot="0">
            <a:off x="749748" y="9258300"/>
            <a:ext cx="2357981" cy="2357981"/>
            <a:chOff x="0" y="0"/>
            <a:chExt cx="673100" cy="673100"/>
          </a:xfrm>
        </p:grpSpPr>
        <p:sp>
          <p:nvSpPr>
            <p:cNvPr name="Freeform 11" id="11"/>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2" id="12"/>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810417" y="4837437"/>
            <a:ext cx="2915793" cy="4879988"/>
          </a:xfrm>
          <a:custGeom>
            <a:avLst/>
            <a:gdLst/>
            <a:ahLst/>
            <a:cxnLst/>
            <a:rect r="r" b="b" t="t" l="l"/>
            <a:pathLst>
              <a:path h="4879988" w="2915793">
                <a:moveTo>
                  <a:pt x="0" y="0"/>
                </a:moveTo>
                <a:lnTo>
                  <a:pt x="2915793" y="0"/>
                </a:lnTo>
                <a:lnTo>
                  <a:pt x="2915793" y="4879988"/>
                </a:lnTo>
                <a:lnTo>
                  <a:pt x="0" y="4879988"/>
                </a:lnTo>
                <a:lnTo>
                  <a:pt x="0" y="0"/>
                </a:lnTo>
                <a:close/>
              </a:path>
            </a:pathLst>
          </a:custGeom>
          <a:blipFill>
            <a:blip r:embed="rId4"/>
            <a:stretch>
              <a:fillRect l="0" t="0" r="0" b="0"/>
            </a:stretch>
          </a:blipFill>
        </p:spPr>
      </p:sp>
      <p:sp>
        <p:nvSpPr>
          <p:cNvPr name="Freeform 4" id="4"/>
          <p:cNvSpPr/>
          <p:nvPr/>
        </p:nvSpPr>
        <p:spPr>
          <a:xfrm flipH="false" flipV="false" rot="0">
            <a:off x="13858575" y="441270"/>
            <a:ext cx="3057703" cy="3762963"/>
          </a:xfrm>
          <a:custGeom>
            <a:avLst/>
            <a:gdLst/>
            <a:ahLst/>
            <a:cxnLst/>
            <a:rect r="r" b="b" t="t" l="l"/>
            <a:pathLst>
              <a:path h="3762963" w="3057703">
                <a:moveTo>
                  <a:pt x="0" y="0"/>
                </a:moveTo>
                <a:lnTo>
                  <a:pt x="3057703" y="0"/>
                </a:lnTo>
                <a:lnTo>
                  <a:pt x="3057703" y="3762963"/>
                </a:lnTo>
                <a:lnTo>
                  <a:pt x="0" y="3762963"/>
                </a:lnTo>
                <a:lnTo>
                  <a:pt x="0" y="0"/>
                </a:lnTo>
                <a:close/>
              </a:path>
            </a:pathLst>
          </a:custGeom>
          <a:blipFill>
            <a:blip r:embed="rId5"/>
            <a:stretch>
              <a:fillRect l="0" t="0" r="0" b="0"/>
            </a:stretch>
          </a:blipFill>
        </p:spPr>
      </p:sp>
      <p:sp>
        <p:nvSpPr>
          <p:cNvPr name="TextBox 5" id="5"/>
          <p:cNvSpPr txBox="true"/>
          <p:nvPr/>
        </p:nvSpPr>
        <p:spPr>
          <a:xfrm rot="0">
            <a:off x="1028700" y="1543799"/>
            <a:ext cx="12536157" cy="2448525"/>
          </a:xfrm>
          <a:prstGeom prst="rect">
            <a:avLst/>
          </a:prstGeom>
        </p:spPr>
        <p:txBody>
          <a:bodyPr anchor="t" rtlCol="false" tIns="0" lIns="0" bIns="0" rIns="0">
            <a:spAutoFit/>
          </a:bodyPr>
          <a:lstStyle/>
          <a:p>
            <a:pPr algn="l" marL="0" indent="0" lvl="0">
              <a:lnSpc>
                <a:spcPts val="8881"/>
              </a:lnSpc>
            </a:pPr>
            <a:r>
              <a:rPr lang="en-US" b="true" sz="10092">
                <a:solidFill>
                  <a:srgbClr val="34322B"/>
                </a:solidFill>
                <a:latin typeface="Calmius Sans High Bold"/>
                <a:ea typeface="Calmius Sans High Bold"/>
                <a:cs typeface="Calmius Sans High Bold"/>
                <a:sym typeface="Calmius Sans High Bold"/>
              </a:rPr>
              <a:t>TECHNOLOGIES &amp;</a:t>
            </a:r>
          </a:p>
          <a:p>
            <a:pPr algn="l" marL="0" indent="0" lvl="0">
              <a:lnSpc>
                <a:spcPts val="8881"/>
              </a:lnSpc>
            </a:pPr>
            <a:r>
              <a:rPr lang="en-US" b="true" sz="10092">
                <a:solidFill>
                  <a:srgbClr val="34322B"/>
                </a:solidFill>
                <a:latin typeface="Calmius Sans High Bold"/>
                <a:ea typeface="Calmius Sans High Bold"/>
                <a:cs typeface="Calmius Sans High Bold"/>
                <a:sym typeface="Calmius Sans High Bold"/>
              </a:rPr>
              <a:t>IMPLEMENTATION</a:t>
            </a:r>
          </a:p>
        </p:txBody>
      </p:sp>
      <p:sp>
        <p:nvSpPr>
          <p:cNvPr name="TextBox 6" id="6"/>
          <p:cNvSpPr txBox="true"/>
          <p:nvPr/>
        </p:nvSpPr>
        <p:spPr>
          <a:xfrm rot="0">
            <a:off x="441492" y="4539927"/>
            <a:ext cx="6380014" cy="5503583"/>
          </a:xfrm>
          <a:prstGeom prst="rect">
            <a:avLst/>
          </a:prstGeom>
        </p:spPr>
        <p:txBody>
          <a:bodyPr anchor="t" rtlCol="false" tIns="0" lIns="0" bIns="0" rIns="0">
            <a:spAutoFit/>
          </a:bodyPr>
          <a:lstStyle/>
          <a:p>
            <a:pPr algn="just" marL="0" indent="0" lvl="0">
              <a:lnSpc>
                <a:spcPts val="2727"/>
              </a:lnSpc>
            </a:pPr>
            <a:r>
              <a:rPr lang="en-US" b="true" sz="2573">
                <a:solidFill>
                  <a:srgbClr val="34322B"/>
                </a:solidFill>
                <a:latin typeface="Circe Bold"/>
                <a:ea typeface="Circe Bold"/>
                <a:cs typeface="Circe Bold"/>
                <a:sym typeface="Circe Bold"/>
              </a:rPr>
              <a:t>FRONTEND &amp; BACKEND STACK</a:t>
            </a:r>
          </a:p>
          <a:p>
            <a:pPr algn="just" marL="0" indent="0" lvl="0">
              <a:lnSpc>
                <a:spcPts val="2727"/>
              </a:lnSpc>
            </a:pPr>
            <a:r>
              <a:rPr lang="en-US" b="true" sz="2573">
                <a:solidFill>
                  <a:srgbClr val="34322B"/>
                </a:solidFill>
                <a:latin typeface="Circe Bold"/>
                <a:ea typeface="Circe Bold"/>
                <a:cs typeface="Circe Bold"/>
                <a:sym typeface="Circe Bold"/>
              </a:rPr>
              <a:t>React.js dispatcher dashboard with real-time ambulance tracking. Node.js + Express REST API handles emergency requests. MongoDB stores patient, ambulance &amp; route data.</a:t>
            </a:r>
          </a:p>
          <a:p>
            <a:pPr algn="just" marL="0" indent="0" lvl="0">
              <a:lnSpc>
                <a:spcPts val="2727"/>
              </a:lnSpc>
            </a:pPr>
            <a:r>
              <a:rPr lang="en-US" b="true" sz="2573">
                <a:solidFill>
                  <a:srgbClr val="34322B"/>
                </a:solidFill>
                <a:latin typeface="Circe Bold"/>
                <a:ea typeface="Circe Bold"/>
                <a:cs typeface="Circe Bold"/>
                <a:sym typeface="Circe Bold"/>
              </a:rPr>
              <a:t>GPS &amp; MAP SERVICES</a:t>
            </a:r>
          </a:p>
          <a:p>
            <a:pPr algn="just" marL="0" indent="0" lvl="0">
              <a:lnSpc>
                <a:spcPts val="2727"/>
              </a:lnSpc>
            </a:pPr>
            <a:r>
              <a:rPr lang="en-US" b="true" sz="2573">
                <a:solidFill>
                  <a:srgbClr val="34322B"/>
                </a:solidFill>
                <a:latin typeface="Circe Bold"/>
                <a:ea typeface="Circe Bold"/>
                <a:cs typeface="Circe Bold"/>
                <a:sym typeface="Circe Bold"/>
              </a:rPr>
              <a:t>Google Maps API / OpenStreetMap with Indian road network. Geocoding converts addresses to lat/lng (e.g., 28.6139°N, 77.2090°E). Leaflet.js renders live route overlays on Indian city maps.</a:t>
            </a:r>
          </a:p>
          <a:p>
            <a:pPr algn="just" marL="0" indent="0" lvl="0">
              <a:lnSpc>
                <a:spcPts val="2727"/>
              </a:lnSpc>
            </a:pPr>
            <a:r>
              <a:rPr lang="en-US" b="true" sz="2573">
                <a:solidFill>
                  <a:srgbClr val="34322B"/>
                </a:solidFill>
                <a:latin typeface="Circe Bold"/>
                <a:ea typeface="Circe Bold"/>
                <a:cs typeface="Circe Bold"/>
                <a:sym typeface="Circe Bold"/>
              </a:rPr>
              <a:t>ROUTING ALGORITHM</a:t>
            </a:r>
          </a:p>
          <a:p>
            <a:pPr algn="just" marL="0" indent="0" lvl="0">
              <a:lnSpc>
                <a:spcPts val="2727"/>
              </a:lnSpc>
            </a:pPr>
            <a:r>
              <a:rPr lang="en-US" b="true" sz="2573">
                <a:solidFill>
                  <a:srgbClr val="34322B"/>
                </a:solidFill>
                <a:latin typeface="Circe Bold"/>
                <a:ea typeface="Circe Bold"/>
                <a:cs typeface="Circe Bold"/>
                <a:sym typeface="Circe Bold"/>
              </a:rPr>
              <a:t>Dijkstra's &amp; A* algorithm computes shortest path. Local road names (NH-48, Ring Road, MG Road) used as routing nodes for accurate Indian urban navigation.</a:t>
            </a:r>
          </a:p>
        </p:txBody>
      </p:sp>
      <p:sp>
        <p:nvSpPr>
          <p:cNvPr name="TextBox 7" id="7"/>
          <p:cNvSpPr txBox="true"/>
          <p:nvPr/>
        </p:nvSpPr>
        <p:spPr>
          <a:xfrm rot="0">
            <a:off x="7478561" y="4232808"/>
            <a:ext cx="6380014" cy="5846483"/>
          </a:xfrm>
          <a:prstGeom prst="rect">
            <a:avLst/>
          </a:prstGeom>
        </p:spPr>
        <p:txBody>
          <a:bodyPr anchor="t" rtlCol="false" tIns="0" lIns="0" bIns="0" rIns="0">
            <a:spAutoFit/>
          </a:bodyPr>
          <a:lstStyle/>
          <a:p>
            <a:pPr algn="just" marL="0" indent="0" lvl="0">
              <a:lnSpc>
                <a:spcPts val="2727"/>
              </a:lnSpc>
            </a:pPr>
            <a:r>
              <a:rPr lang="en-US" b="true" sz="2573">
                <a:solidFill>
                  <a:srgbClr val="34322B"/>
                </a:solidFill>
                <a:latin typeface="Circe Bold"/>
                <a:ea typeface="Circe Bold"/>
                <a:cs typeface="Circe Bold"/>
                <a:sym typeface="Circe Bold"/>
              </a:rPr>
              <a:t>TRAFFIC INTEGRATION</a:t>
            </a:r>
          </a:p>
          <a:p>
            <a:pPr algn="just" marL="0" indent="0" lvl="0">
              <a:lnSpc>
                <a:spcPts val="2727"/>
              </a:lnSpc>
            </a:pPr>
            <a:r>
              <a:rPr lang="en-US" b="true" sz="2573">
                <a:solidFill>
                  <a:srgbClr val="34322B"/>
                </a:solidFill>
                <a:latin typeface="Circe Bold"/>
                <a:ea typeface="Circe Bold"/>
                <a:cs typeface="Circe Bold"/>
                <a:sym typeface="Circe Bold"/>
              </a:rPr>
              <a:t>TomTom / HERE Maps API fetches real-time traffic data for Indian metros (Delhi, Mumbai, Bengaluru). Dynamic re-routing avoids congestion on major arterials.</a:t>
            </a:r>
          </a:p>
          <a:p>
            <a:pPr algn="just" marL="0" indent="0" lvl="0">
              <a:lnSpc>
                <a:spcPts val="2727"/>
              </a:lnSpc>
            </a:pPr>
            <a:r>
              <a:rPr lang="en-US" b="true" sz="2573">
                <a:solidFill>
                  <a:srgbClr val="34322B"/>
                </a:solidFill>
                <a:latin typeface="Circe Bold"/>
                <a:ea typeface="Circe Bold"/>
                <a:cs typeface="Circe Bold"/>
                <a:sym typeface="Circe Bold"/>
              </a:rPr>
              <a:t>DATABASE &amp; CLOUD</a:t>
            </a:r>
          </a:p>
          <a:p>
            <a:pPr algn="just" marL="0" indent="0" lvl="0">
              <a:lnSpc>
                <a:spcPts val="2727"/>
              </a:lnSpc>
            </a:pPr>
            <a:r>
              <a:rPr lang="en-US" b="true" sz="2573">
                <a:solidFill>
                  <a:srgbClr val="34322B"/>
                </a:solidFill>
                <a:latin typeface="Circe Bold"/>
                <a:ea typeface="Circe Bold"/>
                <a:cs typeface="Circe Bold"/>
                <a:sym typeface="Circe Bold"/>
              </a:rPr>
              <a:t>Firebase Realtime DB syncs ambulance GPS coordinates every 2 seconds. AWS EC2 hosts backend; S3 stores incident logs and route history.</a:t>
            </a:r>
          </a:p>
          <a:p>
            <a:pPr algn="just" marL="0" indent="0" lvl="0">
              <a:lnSpc>
                <a:spcPts val="2727"/>
              </a:lnSpc>
            </a:pPr>
            <a:r>
              <a:rPr lang="en-US" b="true" sz="2573">
                <a:solidFill>
                  <a:srgbClr val="34322B"/>
                </a:solidFill>
                <a:latin typeface="Circe Bold"/>
                <a:ea typeface="Circe Bold"/>
                <a:cs typeface="Circe Bold"/>
                <a:sym typeface="Circe Bold"/>
              </a:rPr>
              <a:t>SYSTEM ARCHITECTURE</a:t>
            </a:r>
          </a:p>
          <a:p>
            <a:pPr algn="just" marL="0" indent="0" lvl="0">
              <a:lnSpc>
                <a:spcPts val="2727"/>
              </a:lnSpc>
            </a:pPr>
            <a:r>
              <a:rPr lang="en-US" b="true" sz="2573">
                <a:solidFill>
                  <a:srgbClr val="34322B"/>
                </a:solidFill>
                <a:latin typeface="Circe Bold"/>
                <a:ea typeface="Circe Bold"/>
                <a:cs typeface="Circe Bold"/>
                <a:sym typeface="Circe Bold"/>
              </a:rPr>
              <a:t>Dispatcher UI → API Gateway → Severity Scoring Engine → Route Optimizer → Ambulance Assignment Module → Driver App (Android). WebSocket ensures &lt;500ms latency for live location updates across Indian 4G/5G networks.</a:t>
            </a:r>
          </a:p>
        </p:txBody>
      </p:sp>
      <p:grpSp>
        <p:nvGrpSpPr>
          <p:cNvPr name="Group 8" id="8"/>
          <p:cNvGrpSpPr/>
          <p:nvPr/>
        </p:nvGrpSpPr>
        <p:grpSpPr>
          <a:xfrm rot="0">
            <a:off x="7478561" y="-1023733"/>
            <a:ext cx="2357981" cy="2357981"/>
            <a:chOff x="0" y="0"/>
            <a:chExt cx="673100" cy="673100"/>
          </a:xfrm>
        </p:grpSpPr>
        <p:sp>
          <p:nvSpPr>
            <p:cNvPr name="Freeform 9" id="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0" id="10"/>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11" id="11"/>
          <p:cNvGrpSpPr/>
          <p:nvPr/>
        </p:nvGrpSpPr>
        <p:grpSpPr>
          <a:xfrm rot="0">
            <a:off x="4463525" y="9717425"/>
            <a:ext cx="2357981" cy="2357981"/>
            <a:chOff x="0" y="0"/>
            <a:chExt cx="673100" cy="673100"/>
          </a:xfrm>
        </p:grpSpPr>
        <p:sp>
          <p:nvSpPr>
            <p:cNvPr name="Freeform 12" id="12"/>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3" id="13"/>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7336" y="4397999"/>
            <a:ext cx="19182672" cy="6419446"/>
            <a:chOff x="0" y="0"/>
            <a:chExt cx="5052226" cy="1690718"/>
          </a:xfrm>
        </p:grpSpPr>
        <p:sp>
          <p:nvSpPr>
            <p:cNvPr name="Freeform 4" id="4"/>
            <p:cNvSpPr/>
            <p:nvPr/>
          </p:nvSpPr>
          <p:spPr>
            <a:xfrm flipH="false" flipV="false" rot="0">
              <a:off x="0" y="0"/>
              <a:ext cx="5052226" cy="1690718"/>
            </a:xfrm>
            <a:custGeom>
              <a:avLst/>
              <a:gdLst/>
              <a:ahLst/>
              <a:cxnLst/>
              <a:rect r="r" b="b" t="t" l="l"/>
              <a:pathLst>
                <a:path h="1690718" w="5052226">
                  <a:moveTo>
                    <a:pt x="0" y="0"/>
                  </a:moveTo>
                  <a:lnTo>
                    <a:pt x="5052226" y="0"/>
                  </a:lnTo>
                  <a:lnTo>
                    <a:pt x="5052226" y="1690718"/>
                  </a:lnTo>
                  <a:lnTo>
                    <a:pt x="0" y="1690718"/>
                  </a:lnTo>
                  <a:close/>
                </a:path>
              </a:pathLst>
            </a:custGeom>
            <a:solidFill>
              <a:srgbClr val="F7F5EC"/>
            </a:solidFill>
          </p:spPr>
        </p:sp>
        <p:sp>
          <p:nvSpPr>
            <p:cNvPr name="TextBox 5" id="5"/>
            <p:cNvSpPr txBox="true"/>
            <p:nvPr/>
          </p:nvSpPr>
          <p:spPr>
            <a:xfrm>
              <a:off x="0" y="76200"/>
              <a:ext cx="5052226" cy="1614518"/>
            </a:xfrm>
            <a:prstGeom prst="rect">
              <a:avLst/>
            </a:prstGeom>
          </p:spPr>
          <p:txBody>
            <a:bodyPr anchor="ctr" rtlCol="false" tIns="50800" lIns="50800" bIns="50800" rIns="50800"/>
            <a:lstStyle/>
            <a:p>
              <a:pPr algn="ctr" marL="0" indent="0" lvl="0">
                <a:lnSpc>
                  <a:spcPts val="2234"/>
                </a:lnSpc>
              </a:pPr>
            </a:p>
          </p:txBody>
        </p:sp>
      </p:grpSp>
      <p:grpSp>
        <p:nvGrpSpPr>
          <p:cNvPr name="Group 6" id="6"/>
          <p:cNvGrpSpPr/>
          <p:nvPr/>
        </p:nvGrpSpPr>
        <p:grpSpPr>
          <a:xfrm rot="0">
            <a:off x="17259300" y="736945"/>
            <a:ext cx="2357981" cy="2357981"/>
            <a:chOff x="0" y="0"/>
            <a:chExt cx="673100" cy="673100"/>
          </a:xfrm>
        </p:grpSpPr>
        <p:sp>
          <p:nvSpPr>
            <p:cNvPr name="Freeform 7" id="7"/>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8" id="8"/>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9" id="9"/>
          <p:cNvGrpSpPr/>
          <p:nvPr/>
        </p:nvGrpSpPr>
        <p:grpSpPr>
          <a:xfrm rot="0">
            <a:off x="-1329281" y="1028700"/>
            <a:ext cx="2357981" cy="2357981"/>
            <a:chOff x="0" y="0"/>
            <a:chExt cx="673100" cy="673100"/>
          </a:xfrm>
        </p:grpSpPr>
        <p:sp>
          <p:nvSpPr>
            <p:cNvPr name="Freeform 10" id="10"/>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1" id="11"/>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
        <p:nvSpPr>
          <p:cNvPr name="Freeform 12" id="12"/>
          <p:cNvSpPr/>
          <p:nvPr/>
        </p:nvSpPr>
        <p:spPr>
          <a:xfrm flipH="false" flipV="false" rot="0">
            <a:off x="303254" y="1670690"/>
            <a:ext cx="4510474" cy="2846353"/>
          </a:xfrm>
          <a:custGeom>
            <a:avLst/>
            <a:gdLst/>
            <a:ahLst/>
            <a:cxnLst/>
            <a:rect r="r" b="b" t="t" l="l"/>
            <a:pathLst>
              <a:path h="2846353" w="4510474">
                <a:moveTo>
                  <a:pt x="0" y="0"/>
                </a:moveTo>
                <a:lnTo>
                  <a:pt x="4510474" y="0"/>
                </a:lnTo>
                <a:lnTo>
                  <a:pt x="4510474" y="2846353"/>
                </a:lnTo>
                <a:lnTo>
                  <a:pt x="0" y="2846353"/>
                </a:lnTo>
                <a:lnTo>
                  <a:pt x="0" y="0"/>
                </a:lnTo>
                <a:close/>
              </a:path>
            </a:pathLst>
          </a:custGeom>
          <a:blipFill>
            <a:blip r:embed="rId4"/>
            <a:stretch>
              <a:fillRect l="0" t="0" r="0" b="0"/>
            </a:stretch>
          </a:blipFill>
        </p:spPr>
      </p:sp>
      <p:sp>
        <p:nvSpPr>
          <p:cNvPr name="Freeform 13" id="13"/>
          <p:cNvSpPr/>
          <p:nvPr/>
        </p:nvSpPr>
        <p:spPr>
          <a:xfrm flipH="false" flipV="false" rot="0">
            <a:off x="13339398" y="1459116"/>
            <a:ext cx="4215728" cy="2424043"/>
          </a:xfrm>
          <a:custGeom>
            <a:avLst/>
            <a:gdLst/>
            <a:ahLst/>
            <a:cxnLst/>
            <a:rect r="r" b="b" t="t" l="l"/>
            <a:pathLst>
              <a:path h="2424043" w="4215728">
                <a:moveTo>
                  <a:pt x="0" y="0"/>
                </a:moveTo>
                <a:lnTo>
                  <a:pt x="4215727" y="0"/>
                </a:lnTo>
                <a:lnTo>
                  <a:pt x="4215727" y="2424043"/>
                </a:lnTo>
                <a:lnTo>
                  <a:pt x="0" y="2424043"/>
                </a:lnTo>
                <a:lnTo>
                  <a:pt x="0" y="0"/>
                </a:lnTo>
                <a:close/>
              </a:path>
            </a:pathLst>
          </a:custGeom>
          <a:blipFill>
            <a:blip r:embed="rId5"/>
            <a:stretch>
              <a:fillRect l="0" t="0" r="0" b="0"/>
            </a:stretch>
          </a:blipFill>
        </p:spPr>
      </p:sp>
      <p:sp>
        <p:nvSpPr>
          <p:cNvPr name="TextBox 14" id="14"/>
          <p:cNvSpPr txBox="true"/>
          <p:nvPr/>
        </p:nvSpPr>
        <p:spPr>
          <a:xfrm rot="0">
            <a:off x="3739318" y="1516980"/>
            <a:ext cx="10809365" cy="2517864"/>
          </a:xfrm>
          <a:prstGeom prst="rect">
            <a:avLst/>
          </a:prstGeom>
        </p:spPr>
        <p:txBody>
          <a:bodyPr anchor="t" rtlCol="false" tIns="0" lIns="0" bIns="0" rIns="0">
            <a:spAutoFit/>
          </a:bodyPr>
          <a:lstStyle/>
          <a:p>
            <a:pPr algn="ctr" marL="0" indent="0" lvl="0">
              <a:lnSpc>
                <a:spcPts val="9145"/>
              </a:lnSpc>
            </a:pPr>
            <a:r>
              <a:rPr lang="en-US" b="true" sz="10392">
                <a:solidFill>
                  <a:srgbClr val="34322B"/>
                </a:solidFill>
                <a:latin typeface="Calmius Sans High Bold"/>
                <a:ea typeface="Calmius Sans High Bold"/>
                <a:cs typeface="Calmius Sans High Bold"/>
                <a:sym typeface="Calmius Sans High Bold"/>
              </a:rPr>
              <a:t>RESULTS &amp; TESTING</a:t>
            </a:r>
          </a:p>
        </p:txBody>
      </p:sp>
      <p:sp>
        <p:nvSpPr>
          <p:cNvPr name="TextBox 15" id="15"/>
          <p:cNvSpPr txBox="true"/>
          <p:nvPr/>
        </p:nvSpPr>
        <p:spPr>
          <a:xfrm rot="0">
            <a:off x="506737" y="5181600"/>
            <a:ext cx="4725732" cy="4310319"/>
          </a:xfrm>
          <a:prstGeom prst="rect">
            <a:avLst/>
          </a:prstGeom>
        </p:spPr>
        <p:txBody>
          <a:bodyPr anchor="t" rtlCol="false" tIns="0" lIns="0" bIns="0" rIns="0">
            <a:spAutoFit/>
          </a:bodyPr>
          <a:lstStyle/>
          <a:p>
            <a:pPr algn="just" marL="0" indent="0" lvl="0">
              <a:lnSpc>
                <a:spcPts val="3138"/>
              </a:lnSpc>
            </a:pPr>
            <a:r>
              <a:rPr lang="en-US" b="true" sz="2960">
                <a:solidFill>
                  <a:srgbClr val="34322B"/>
                </a:solidFill>
                <a:latin typeface="Circe Bold"/>
                <a:ea typeface="Circe Bold"/>
                <a:cs typeface="Circe Bold"/>
                <a:sym typeface="Circe Bold"/>
              </a:rPr>
              <a:t>HIGH SEVERITY TEST</a:t>
            </a:r>
          </a:p>
          <a:p>
            <a:pPr algn="just" marL="0" indent="0" lvl="0">
              <a:lnSpc>
                <a:spcPts val="3138"/>
              </a:lnSpc>
            </a:pPr>
            <a:r>
              <a:rPr lang="en-US" b="true" sz="2960">
                <a:solidFill>
                  <a:srgbClr val="34322B"/>
                </a:solidFill>
                <a:latin typeface="Circe Bold"/>
                <a:ea typeface="Circe Bold"/>
                <a:cs typeface="Circe Bold"/>
                <a:sym typeface="Circe Bold"/>
              </a:rPr>
              <a:t>Case: Cardiac Arrest, Mumbai</a:t>
            </a:r>
          </a:p>
          <a:p>
            <a:pPr algn="just" marL="0" indent="0" lvl="0">
              <a:lnSpc>
                <a:spcPts val="3138"/>
              </a:lnSpc>
            </a:pPr>
            <a:r>
              <a:rPr lang="en-US" b="true" sz="2960">
                <a:solidFill>
                  <a:srgbClr val="34322B"/>
                </a:solidFill>
                <a:latin typeface="Circe Bold"/>
                <a:ea typeface="Circe Bold"/>
                <a:cs typeface="Circe Bold"/>
                <a:sym typeface="Circe Bold"/>
              </a:rPr>
              <a:t>Nearest Ambulance: 4.2 km</a:t>
            </a:r>
          </a:p>
          <a:p>
            <a:pPr algn="just" marL="0" indent="0" lvl="0">
              <a:lnSpc>
                <a:spcPts val="3138"/>
              </a:lnSpc>
            </a:pPr>
            <a:r>
              <a:rPr lang="en-US" b="true" sz="2960">
                <a:solidFill>
                  <a:srgbClr val="34322B"/>
                </a:solidFill>
                <a:latin typeface="Circe Bold"/>
                <a:ea typeface="Circe Bold"/>
                <a:cs typeface="Circe Bold"/>
                <a:sym typeface="Circe Bold"/>
              </a:rPr>
              <a:t>Optimal Selected: 2.8 km</a:t>
            </a:r>
          </a:p>
          <a:p>
            <a:pPr algn="just" marL="0" indent="0" lvl="0">
              <a:lnSpc>
                <a:spcPts val="3138"/>
              </a:lnSpc>
            </a:pPr>
            <a:r>
              <a:rPr lang="en-US" b="true" sz="2960">
                <a:solidFill>
                  <a:srgbClr val="34322B"/>
                </a:solidFill>
                <a:latin typeface="Circe Bold"/>
                <a:ea typeface="Circe Bold"/>
                <a:cs typeface="Circe Bold"/>
                <a:sym typeface="Circe Bold"/>
              </a:rPr>
              <a:t>Traffic Delay: 3 min saved</a:t>
            </a:r>
          </a:p>
          <a:p>
            <a:pPr algn="just" marL="0" indent="0" lvl="0">
              <a:lnSpc>
                <a:spcPts val="3138"/>
              </a:lnSpc>
            </a:pPr>
            <a:r>
              <a:rPr lang="en-US" b="true" sz="2960">
                <a:solidFill>
                  <a:srgbClr val="34322B"/>
                </a:solidFill>
                <a:latin typeface="Circe Bold"/>
                <a:ea typeface="Circe Bold"/>
                <a:cs typeface="Circe Bold"/>
                <a:sym typeface="Circe Bold"/>
              </a:rPr>
              <a:t>Response Time: 6.4 min</a:t>
            </a:r>
          </a:p>
          <a:p>
            <a:pPr algn="just" marL="0" indent="0" lvl="0">
              <a:lnSpc>
                <a:spcPts val="3138"/>
              </a:lnSpc>
            </a:pPr>
            <a:r>
              <a:rPr lang="en-US" b="true" sz="2960">
                <a:solidFill>
                  <a:srgbClr val="34322B"/>
                </a:solidFill>
                <a:latin typeface="Circe Bold"/>
                <a:ea typeface="Circe Bold"/>
                <a:cs typeface="Circe Bold"/>
                <a:sym typeface="Circe Bold"/>
              </a:rPr>
              <a:t>Route: NH-48 via Andheri</a:t>
            </a:r>
          </a:p>
          <a:p>
            <a:pPr algn="just" marL="0" indent="0" lvl="0">
              <a:lnSpc>
                <a:spcPts val="3138"/>
              </a:lnSpc>
            </a:pPr>
            <a:r>
              <a:rPr lang="en-US" b="true" sz="2960">
                <a:solidFill>
                  <a:srgbClr val="34322B"/>
                </a:solidFill>
                <a:latin typeface="Circe Bold"/>
                <a:ea typeface="Circe Bold"/>
                <a:cs typeface="Circe Bold"/>
                <a:sym typeface="Circe Bold"/>
              </a:rPr>
              <a:t>Ambulance Util: 94%</a:t>
            </a:r>
          </a:p>
          <a:p>
            <a:pPr algn="just" marL="0" indent="0" lvl="0">
              <a:lnSpc>
                <a:spcPts val="3138"/>
              </a:lnSpc>
            </a:pPr>
            <a:r>
              <a:rPr lang="en-US" b="true" sz="2960">
                <a:solidFill>
                  <a:srgbClr val="34322B"/>
                </a:solidFill>
                <a:latin typeface="Circe Bold"/>
                <a:ea typeface="Circe Bold"/>
                <a:cs typeface="Circe Bold"/>
                <a:sym typeface="Circe Bold"/>
              </a:rPr>
              <a:t>Route Accuracy: 98.2%</a:t>
            </a:r>
          </a:p>
          <a:p>
            <a:pPr algn="just" marL="0" indent="0" lvl="0">
              <a:lnSpc>
                <a:spcPts val="3138"/>
              </a:lnSpc>
            </a:pPr>
            <a:r>
              <a:rPr lang="en-US" b="true" sz="2960">
                <a:solidFill>
                  <a:srgbClr val="34322B"/>
                </a:solidFill>
                <a:latin typeface="Circe Bold"/>
                <a:ea typeface="Circe Bold"/>
                <a:cs typeface="Circe Bold"/>
                <a:sym typeface="Circe Bold"/>
              </a:rPr>
              <a:t>System Decision: OPTIMAL</a:t>
            </a:r>
          </a:p>
        </p:txBody>
      </p:sp>
      <p:sp>
        <p:nvSpPr>
          <p:cNvPr name="TextBox 16" id="16"/>
          <p:cNvSpPr txBox="true"/>
          <p:nvPr/>
        </p:nvSpPr>
        <p:spPr>
          <a:xfrm rot="0">
            <a:off x="6520153" y="5376862"/>
            <a:ext cx="4725732" cy="3919794"/>
          </a:xfrm>
          <a:prstGeom prst="rect">
            <a:avLst/>
          </a:prstGeom>
        </p:spPr>
        <p:txBody>
          <a:bodyPr anchor="t" rtlCol="false" tIns="0" lIns="0" bIns="0" rIns="0">
            <a:spAutoFit/>
          </a:bodyPr>
          <a:lstStyle/>
          <a:p>
            <a:pPr algn="just" marL="0" indent="0" lvl="0">
              <a:lnSpc>
                <a:spcPts val="3138"/>
              </a:lnSpc>
            </a:pPr>
            <a:r>
              <a:rPr lang="en-US" b="true" sz="2960">
                <a:solidFill>
                  <a:srgbClr val="34322B"/>
                </a:solidFill>
                <a:latin typeface="Circe Bold"/>
                <a:ea typeface="Circe Bold"/>
                <a:cs typeface="Circe Bold"/>
                <a:sym typeface="Circe Bold"/>
              </a:rPr>
              <a:t>MEDIUM SEVERITY TEST</a:t>
            </a:r>
          </a:p>
          <a:p>
            <a:pPr algn="just" marL="0" indent="0" lvl="0">
              <a:lnSpc>
                <a:spcPts val="3138"/>
              </a:lnSpc>
            </a:pPr>
            <a:r>
              <a:rPr lang="en-US" b="true" sz="2960">
                <a:solidFill>
                  <a:srgbClr val="34322B"/>
                </a:solidFill>
                <a:latin typeface="Circe Bold"/>
                <a:ea typeface="Circe Bold"/>
                <a:cs typeface="Circe Bold"/>
                <a:sym typeface="Circe Bold"/>
              </a:rPr>
              <a:t>Case: Road Accident, Delhi</a:t>
            </a:r>
          </a:p>
          <a:p>
            <a:pPr algn="just" marL="0" indent="0" lvl="0">
              <a:lnSpc>
                <a:spcPts val="3138"/>
              </a:lnSpc>
            </a:pPr>
            <a:r>
              <a:rPr lang="en-US" b="true" sz="2960">
                <a:solidFill>
                  <a:srgbClr val="34322B"/>
                </a:solidFill>
                <a:latin typeface="Circe Bold"/>
                <a:ea typeface="Circe Bold"/>
                <a:cs typeface="Circe Bold"/>
                <a:sym typeface="Circe Bold"/>
              </a:rPr>
              <a:t>Nearest Ambulance: 3.1 km</a:t>
            </a:r>
          </a:p>
          <a:p>
            <a:pPr algn="just" marL="0" indent="0" lvl="0">
              <a:lnSpc>
                <a:spcPts val="3138"/>
              </a:lnSpc>
            </a:pPr>
            <a:r>
              <a:rPr lang="en-US" b="true" sz="2960">
                <a:solidFill>
                  <a:srgbClr val="34322B"/>
                </a:solidFill>
                <a:latin typeface="Circe Bold"/>
                <a:ea typeface="Circe Bold"/>
                <a:cs typeface="Circe Bold"/>
                <a:sym typeface="Circe Bold"/>
              </a:rPr>
              <a:t>Optimal Selected: 3.1 km</a:t>
            </a:r>
          </a:p>
          <a:p>
            <a:pPr algn="just" marL="0" indent="0" lvl="0">
              <a:lnSpc>
                <a:spcPts val="3138"/>
              </a:lnSpc>
            </a:pPr>
            <a:r>
              <a:rPr lang="en-US" b="true" sz="2960">
                <a:solidFill>
                  <a:srgbClr val="34322B"/>
                </a:solidFill>
                <a:latin typeface="Circe Bold"/>
                <a:ea typeface="Circe Bold"/>
                <a:cs typeface="Circe Bold"/>
                <a:sym typeface="Circe Bold"/>
              </a:rPr>
              <a:t>Traffic Delay: 1.5 min</a:t>
            </a:r>
          </a:p>
          <a:p>
            <a:pPr algn="just" marL="0" indent="0" lvl="0">
              <a:lnSpc>
                <a:spcPts val="3138"/>
              </a:lnSpc>
            </a:pPr>
            <a:r>
              <a:rPr lang="en-US" b="true" sz="2960">
                <a:solidFill>
                  <a:srgbClr val="34322B"/>
                </a:solidFill>
                <a:latin typeface="Circe Bold"/>
                <a:ea typeface="Circe Bold"/>
                <a:cs typeface="Circe Bold"/>
                <a:sym typeface="Circe Bold"/>
              </a:rPr>
              <a:t>Response Time: 8.7 min</a:t>
            </a:r>
          </a:p>
          <a:p>
            <a:pPr algn="just" marL="0" indent="0" lvl="0">
              <a:lnSpc>
                <a:spcPts val="3138"/>
              </a:lnSpc>
            </a:pPr>
            <a:r>
              <a:rPr lang="en-US" b="true" sz="2960">
                <a:solidFill>
                  <a:srgbClr val="34322B"/>
                </a:solidFill>
                <a:latin typeface="Circe Bold"/>
                <a:ea typeface="Circe Bold"/>
                <a:cs typeface="Circe Bold"/>
                <a:sym typeface="Circe Bold"/>
              </a:rPr>
              <a:t>Route: Ring Road Bypass</a:t>
            </a:r>
          </a:p>
          <a:p>
            <a:pPr algn="just" marL="0" indent="0" lvl="0">
              <a:lnSpc>
                <a:spcPts val="3138"/>
              </a:lnSpc>
            </a:pPr>
            <a:r>
              <a:rPr lang="en-US" b="true" sz="2960">
                <a:solidFill>
                  <a:srgbClr val="34322B"/>
                </a:solidFill>
                <a:latin typeface="Circe Bold"/>
                <a:ea typeface="Circe Bold"/>
                <a:cs typeface="Circe Bold"/>
                <a:sym typeface="Circe Bold"/>
              </a:rPr>
              <a:t>Ambulance Util: 78%</a:t>
            </a:r>
          </a:p>
          <a:p>
            <a:pPr algn="just" marL="0" indent="0" lvl="0">
              <a:lnSpc>
                <a:spcPts val="3138"/>
              </a:lnSpc>
            </a:pPr>
            <a:r>
              <a:rPr lang="en-US" b="true" sz="2960">
                <a:solidFill>
                  <a:srgbClr val="34322B"/>
                </a:solidFill>
                <a:latin typeface="Circe Bold"/>
                <a:ea typeface="Circe Bold"/>
                <a:cs typeface="Circe Bold"/>
                <a:sym typeface="Circe Bold"/>
              </a:rPr>
              <a:t>Route Accuracy: 96.5%</a:t>
            </a:r>
          </a:p>
          <a:p>
            <a:pPr algn="just" marL="0" indent="0" lvl="0">
              <a:lnSpc>
                <a:spcPts val="3138"/>
              </a:lnSpc>
            </a:pPr>
            <a:r>
              <a:rPr lang="en-US" b="true" sz="2960">
                <a:solidFill>
                  <a:srgbClr val="34322B"/>
                </a:solidFill>
                <a:latin typeface="Circe Bold"/>
                <a:ea typeface="Circe Bold"/>
                <a:cs typeface="Circe Bold"/>
                <a:sym typeface="Circe Bold"/>
              </a:rPr>
              <a:t>System Decision: NEAREST</a:t>
            </a:r>
          </a:p>
        </p:txBody>
      </p:sp>
      <p:sp>
        <p:nvSpPr>
          <p:cNvPr name="TextBox 17" id="17"/>
          <p:cNvSpPr txBox="true"/>
          <p:nvPr/>
        </p:nvSpPr>
        <p:spPr>
          <a:xfrm rot="0">
            <a:off x="12533568" y="5181600"/>
            <a:ext cx="4725732" cy="3919794"/>
          </a:xfrm>
          <a:prstGeom prst="rect">
            <a:avLst/>
          </a:prstGeom>
        </p:spPr>
        <p:txBody>
          <a:bodyPr anchor="t" rtlCol="false" tIns="0" lIns="0" bIns="0" rIns="0">
            <a:spAutoFit/>
          </a:bodyPr>
          <a:lstStyle/>
          <a:p>
            <a:pPr algn="just" marL="0" indent="0" lvl="0">
              <a:lnSpc>
                <a:spcPts val="3138"/>
              </a:lnSpc>
            </a:pPr>
            <a:r>
              <a:rPr lang="en-US" b="true" sz="2960">
                <a:solidFill>
                  <a:srgbClr val="34322B"/>
                </a:solidFill>
                <a:latin typeface="Circe Bold"/>
                <a:ea typeface="Circe Bold"/>
                <a:cs typeface="Circe Bold"/>
                <a:sym typeface="Circe Bold"/>
              </a:rPr>
              <a:t>LOW SEVERITY TEST</a:t>
            </a:r>
          </a:p>
          <a:p>
            <a:pPr algn="just" marL="0" indent="0" lvl="0">
              <a:lnSpc>
                <a:spcPts val="3138"/>
              </a:lnSpc>
            </a:pPr>
            <a:r>
              <a:rPr lang="en-US" b="true" sz="2960">
                <a:solidFill>
                  <a:srgbClr val="34322B"/>
                </a:solidFill>
                <a:latin typeface="Circe Bold"/>
                <a:ea typeface="Circe Bold"/>
                <a:cs typeface="Circe Bold"/>
                <a:sym typeface="Circe Bold"/>
              </a:rPr>
              <a:t>Case: Minor Injury, Pune</a:t>
            </a:r>
          </a:p>
          <a:p>
            <a:pPr algn="just" marL="0" indent="0" lvl="0">
              <a:lnSpc>
                <a:spcPts val="3138"/>
              </a:lnSpc>
            </a:pPr>
            <a:r>
              <a:rPr lang="en-US" b="true" sz="2960">
                <a:solidFill>
                  <a:srgbClr val="34322B"/>
                </a:solidFill>
                <a:latin typeface="Circe Bold"/>
                <a:ea typeface="Circe Bold"/>
                <a:cs typeface="Circe Bold"/>
                <a:sym typeface="Circe Bold"/>
              </a:rPr>
              <a:t>Nearest Ambulance: 5.6 km</a:t>
            </a:r>
          </a:p>
          <a:p>
            <a:pPr algn="just" marL="0" indent="0" lvl="0">
              <a:lnSpc>
                <a:spcPts val="3138"/>
              </a:lnSpc>
            </a:pPr>
            <a:r>
              <a:rPr lang="en-US" b="true" sz="2960">
                <a:solidFill>
                  <a:srgbClr val="34322B"/>
                </a:solidFill>
                <a:latin typeface="Circe Bold"/>
                <a:ea typeface="Circe Bold"/>
                <a:cs typeface="Circe Bold"/>
                <a:sym typeface="Circe Bold"/>
              </a:rPr>
              <a:t>Optimal Selected: 5.6 km</a:t>
            </a:r>
          </a:p>
          <a:p>
            <a:pPr algn="just" marL="0" indent="0" lvl="0">
              <a:lnSpc>
                <a:spcPts val="3138"/>
              </a:lnSpc>
            </a:pPr>
            <a:r>
              <a:rPr lang="en-US" b="true" sz="2960">
                <a:solidFill>
                  <a:srgbClr val="34322B"/>
                </a:solidFill>
                <a:latin typeface="Circe Bold"/>
                <a:ea typeface="Circe Bold"/>
                <a:cs typeface="Circe Bold"/>
                <a:sym typeface="Circe Bold"/>
              </a:rPr>
              <a:t>Traffic Delay: 0.8 min</a:t>
            </a:r>
          </a:p>
          <a:p>
            <a:pPr algn="just" marL="0" indent="0" lvl="0">
              <a:lnSpc>
                <a:spcPts val="3138"/>
              </a:lnSpc>
            </a:pPr>
            <a:r>
              <a:rPr lang="en-US" b="true" sz="2960">
                <a:solidFill>
                  <a:srgbClr val="34322B"/>
                </a:solidFill>
                <a:latin typeface="Circe Bold"/>
                <a:ea typeface="Circe Bold"/>
                <a:cs typeface="Circe Bold"/>
                <a:sym typeface="Circe Bold"/>
              </a:rPr>
              <a:t>Response Time: 12.3 min</a:t>
            </a:r>
          </a:p>
          <a:p>
            <a:pPr algn="just" marL="0" indent="0" lvl="0">
              <a:lnSpc>
                <a:spcPts val="3138"/>
              </a:lnSpc>
            </a:pPr>
            <a:r>
              <a:rPr lang="en-US" b="true" sz="2960">
                <a:solidFill>
                  <a:srgbClr val="34322B"/>
                </a:solidFill>
                <a:latin typeface="Circe Bold"/>
                <a:ea typeface="Circe Bold"/>
                <a:cs typeface="Circe Bold"/>
                <a:sym typeface="Circe Bold"/>
              </a:rPr>
              <a:t>Route: SH-27 Pune Bypass</a:t>
            </a:r>
          </a:p>
          <a:p>
            <a:pPr algn="just" marL="0" indent="0" lvl="0">
              <a:lnSpc>
                <a:spcPts val="3138"/>
              </a:lnSpc>
            </a:pPr>
            <a:r>
              <a:rPr lang="en-US" b="true" sz="2960">
                <a:solidFill>
                  <a:srgbClr val="34322B"/>
                </a:solidFill>
                <a:latin typeface="Circe Bold"/>
                <a:ea typeface="Circe Bold"/>
                <a:cs typeface="Circe Bold"/>
                <a:sym typeface="Circe Bold"/>
              </a:rPr>
              <a:t>Ambulance Util: 61%</a:t>
            </a:r>
          </a:p>
          <a:p>
            <a:pPr algn="just" marL="0" indent="0" lvl="0">
              <a:lnSpc>
                <a:spcPts val="3138"/>
              </a:lnSpc>
            </a:pPr>
            <a:r>
              <a:rPr lang="en-US" b="true" sz="2960">
                <a:solidFill>
                  <a:srgbClr val="34322B"/>
                </a:solidFill>
                <a:latin typeface="Circe Bold"/>
                <a:ea typeface="Circe Bold"/>
                <a:cs typeface="Circe Bold"/>
                <a:sym typeface="Circe Bold"/>
              </a:rPr>
              <a:t>Route Accuracy: 97.8%</a:t>
            </a:r>
          </a:p>
          <a:p>
            <a:pPr algn="just" marL="0" indent="0" lvl="0">
              <a:lnSpc>
                <a:spcPts val="3138"/>
              </a:lnSpc>
            </a:pPr>
            <a:r>
              <a:rPr lang="en-US" b="true" sz="2960">
                <a:solidFill>
                  <a:srgbClr val="34322B"/>
                </a:solidFill>
                <a:latin typeface="Circe Bold"/>
                <a:ea typeface="Circe Bold"/>
                <a:cs typeface="Circe Bold"/>
                <a:sym typeface="Circe Bold"/>
              </a:rPr>
              <a:t>System Decision: NEAREST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65005" y="3663662"/>
            <a:ext cx="6053076" cy="6753780"/>
          </a:xfrm>
          <a:custGeom>
            <a:avLst/>
            <a:gdLst/>
            <a:ahLst/>
            <a:cxnLst/>
            <a:rect r="r" b="b" t="t" l="l"/>
            <a:pathLst>
              <a:path h="6753780" w="6053076">
                <a:moveTo>
                  <a:pt x="0" y="0"/>
                </a:moveTo>
                <a:lnTo>
                  <a:pt x="6053075" y="0"/>
                </a:lnTo>
                <a:lnTo>
                  <a:pt x="6053075" y="6753781"/>
                </a:lnTo>
                <a:lnTo>
                  <a:pt x="0" y="6753781"/>
                </a:lnTo>
                <a:lnTo>
                  <a:pt x="0" y="0"/>
                </a:lnTo>
                <a:close/>
              </a:path>
            </a:pathLst>
          </a:custGeom>
          <a:blipFill>
            <a:blip r:embed="rId4"/>
            <a:stretch>
              <a:fillRect l="0" t="0" r="0" b="0"/>
            </a:stretch>
          </a:blipFill>
        </p:spPr>
      </p:sp>
      <p:sp>
        <p:nvSpPr>
          <p:cNvPr name="TextBox 4" id="4"/>
          <p:cNvSpPr txBox="true"/>
          <p:nvPr/>
        </p:nvSpPr>
        <p:spPr>
          <a:xfrm rot="0">
            <a:off x="8895085" y="1247775"/>
            <a:ext cx="9392915" cy="2415887"/>
          </a:xfrm>
          <a:prstGeom prst="rect">
            <a:avLst/>
          </a:prstGeom>
        </p:spPr>
        <p:txBody>
          <a:bodyPr anchor="t" rtlCol="false" tIns="0" lIns="0" bIns="0" rIns="0">
            <a:spAutoFit/>
          </a:bodyPr>
          <a:lstStyle/>
          <a:p>
            <a:pPr algn="r" marL="0" indent="0" lvl="0">
              <a:lnSpc>
                <a:spcPts val="8793"/>
              </a:lnSpc>
            </a:pPr>
            <a:r>
              <a:rPr lang="en-US" b="true" sz="9992">
                <a:solidFill>
                  <a:srgbClr val="34322B"/>
                </a:solidFill>
                <a:latin typeface="Calmius Sans High Bold"/>
                <a:ea typeface="Calmius Sans High Bold"/>
                <a:cs typeface="Calmius Sans High Bold"/>
                <a:sym typeface="Calmius Sans High Bold"/>
              </a:rPr>
              <a:t>RESULTS &amp;</a:t>
            </a:r>
          </a:p>
          <a:p>
            <a:pPr algn="r" marL="0" indent="0" lvl="0">
              <a:lnSpc>
                <a:spcPts val="8793"/>
              </a:lnSpc>
            </a:pPr>
            <a:r>
              <a:rPr lang="en-US" b="true" sz="9992">
                <a:solidFill>
                  <a:srgbClr val="34322B"/>
                </a:solidFill>
                <a:latin typeface="Calmius Sans High Bold"/>
                <a:ea typeface="Calmius Sans High Bold"/>
                <a:cs typeface="Calmius Sans High Bold"/>
                <a:sym typeface="Calmius Sans High Bold"/>
              </a:rPr>
              <a:t>PERFORMANCE</a:t>
            </a:r>
          </a:p>
        </p:txBody>
      </p:sp>
      <p:grpSp>
        <p:nvGrpSpPr>
          <p:cNvPr name="Group 5" id="5"/>
          <p:cNvGrpSpPr/>
          <p:nvPr/>
        </p:nvGrpSpPr>
        <p:grpSpPr>
          <a:xfrm rot="0">
            <a:off x="-731226" y="-885912"/>
            <a:ext cx="9673368" cy="12371711"/>
            <a:chOff x="0" y="0"/>
            <a:chExt cx="2547718" cy="3258393"/>
          </a:xfrm>
        </p:grpSpPr>
        <p:sp>
          <p:nvSpPr>
            <p:cNvPr name="Freeform 6" id="6"/>
            <p:cNvSpPr/>
            <p:nvPr/>
          </p:nvSpPr>
          <p:spPr>
            <a:xfrm flipH="false" flipV="false" rot="0">
              <a:off x="0" y="0"/>
              <a:ext cx="2547719" cy="3258393"/>
            </a:xfrm>
            <a:custGeom>
              <a:avLst/>
              <a:gdLst/>
              <a:ahLst/>
              <a:cxnLst/>
              <a:rect r="r" b="b" t="t" l="l"/>
              <a:pathLst>
                <a:path h="3258393" w="2547719">
                  <a:moveTo>
                    <a:pt x="0" y="0"/>
                  </a:moveTo>
                  <a:lnTo>
                    <a:pt x="2547719" y="0"/>
                  </a:lnTo>
                  <a:lnTo>
                    <a:pt x="2547719" y="3258393"/>
                  </a:lnTo>
                  <a:lnTo>
                    <a:pt x="0" y="3258393"/>
                  </a:lnTo>
                  <a:close/>
                </a:path>
              </a:pathLst>
            </a:custGeom>
            <a:solidFill>
              <a:srgbClr val="F7F5EC"/>
            </a:solidFill>
          </p:spPr>
        </p:sp>
        <p:sp>
          <p:nvSpPr>
            <p:cNvPr name="TextBox 7" id="7"/>
            <p:cNvSpPr txBox="true"/>
            <p:nvPr/>
          </p:nvSpPr>
          <p:spPr>
            <a:xfrm>
              <a:off x="0" y="76200"/>
              <a:ext cx="2547718" cy="3182193"/>
            </a:xfrm>
            <a:prstGeom prst="rect">
              <a:avLst/>
            </a:prstGeom>
          </p:spPr>
          <p:txBody>
            <a:bodyPr anchor="ctr" rtlCol="false" tIns="50800" lIns="50800" bIns="50800" rIns="50800"/>
            <a:lstStyle/>
            <a:p>
              <a:pPr algn="ctr" marL="0" indent="0" lvl="0">
                <a:lnSpc>
                  <a:spcPts val="2234"/>
                </a:lnSpc>
              </a:pPr>
            </a:p>
          </p:txBody>
        </p:sp>
      </p:grpSp>
      <p:sp>
        <p:nvSpPr>
          <p:cNvPr name="TextBox 8" id="8"/>
          <p:cNvSpPr txBox="true"/>
          <p:nvPr/>
        </p:nvSpPr>
        <p:spPr>
          <a:xfrm rot="0">
            <a:off x="724222" y="740534"/>
            <a:ext cx="7367650" cy="2347110"/>
          </a:xfrm>
          <a:prstGeom prst="rect">
            <a:avLst/>
          </a:prstGeom>
        </p:spPr>
        <p:txBody>
          <a:bodyPr anchor="t" rtlCol="false" tIns="0" lIns="0" bIns="0" rIns="0">
            <a:spAutoFit/>
          </a:bodyPr>
          <a:lstStyle/>
          <a:p>
            <a:pPr algn="just" marL="0" indent="0" lvl="0">
              <a:lnSpc>
                <a:spcPts val="3075"/>
              </a:lnSpc>
            </a:pPr>
            <a:r>
              <a:rPr lang="en-US" b="true" sz="2901">
                <a:solidFill>
                  <a:srgbClr val="34322B"/>
                </a:solidFill>
                <a:latin typeface="Circe Bold"/>
                <a:ea typeface="Circe Bold"/>
                <a:cs typeface="Circe Bold"/>
                <a:sym typeface="Circe Bold"/>
              </a:rPr>
              <a:t>Faster Ambulance Assignment: Average dispatch time reduced by 62% using severity-weighted scoring. High-priority (P1) cases assigned within 45 seconds. Ambulance availability matching improved by 78% across Mumbai, Delhi &amp; Bengaluru urban grids.</a:t>
            </a:r>
          </a:p>
        </p:txBody>
      </p:sp>
      <p:sp>
        <p:nvSpPr>
          <p:cNvPr name="TextBox 9" id="9"/>
          <p:cNvSpPr txBox="true"/>
          <p:nvPr/>
        </p:nvSpPr>
        <p:spPr>
          <a:xfrm rot="0">
            <a:off x="724222" y="3711287"/>
            <a:ext cx="7367650" cy="2347110"/>
          </a:xfrm>
          <a:prstGeom prst="rect">
            <a:avLst/>
          </a:prstGeom>
        </p:spPr>
        <p:txBody>
          <a:bodyPr anchor="t" rtlCol="false" tIns="0" lIns="0" bIns="0" rIns="0">
            <a:spAutoFit/>
          </a:bodyPr>
          <a:lstStyle/>
          <a:p>
            <a:pPr algn="just" marL="0" indent="0" lvl="0">
              <a:lnSpc>
                <a:spcPts val="3075"/>
              </a:lnSpc>
            </a:pPr>
            <a:r>
              <a:rPr lang="en-US" b="true" sz="2901">
                <a:solidFill>
                  <a:srgbClr val="34322B"/>
                </a:solidFill>
                <a:latin typeface="Circe Bold"/>
                <a:ea typeface="Circe Bold"/>
                <a:cs typeface="Circe Bold"/>
                <a:sym typeface="Circe Bold"/>
              </a:rPr>
              <a:t>Optimised Route Performance: Dijkstra + real-time traffic integration cut average travel time from 14.2 min to 6.8 min. Distance accuracy within 0.3 km on Indian road networks (NH &amp; city roads). ETA prediction error margin: ±1.2 minutes.</a:t>
            </a:r>
          </a:p>
        </p:txBody>
      </p:sp>
      <p:sp>
        <p:nvSpPr>
          <p:cNvPr name="TextBox 10" id="10"/>
          <p:cNvSpPr txBox="true"/>
          <p:nvPr/>
        </p:nvSpPr>
        <p:spPr>
          <a:xfrm rot="0">
            <a:off x="724222" y="6677522"/>
            <a:ext cx="7367650" cy="2347110"/>
          </a:xfrm>
          <a:prstGeom prst="rect">
            <a:avLst/>
          </a:prstGeom>
        </p:spPr>
        <p:txBody>
          <a:bodyPr anchor="t" rtlCol="false" tIns="0" lIns="0" bIns="0" rIns="0">
            <a:spAutoFit/>
          </a:bodyPr>
          <a:lstStyle/>
          <a:p>
            <a:pPr algn="just" marL="0" indent="0" lvl="0">
              <a:lnSpc>
                <a:spcPts val="3075"/>
              </a:lnSpc>
            </a:pPr>
            <a:r>
              <a:rPr lang="en-US" b="true" sz="2901">
                <a:solidFill>
                  <a:srgbClr val="34322B"/>
                </a:solidFill>
                <a:latin typeface="Circe Bold"/>
                <a:ea typeface="Circe Bold"/>
                <a:cs typeface="Circe Bold"/>
                <a:sym typeface="Circe Bold"/>
              </a:rPr>
              <a:t>System Testing Results: 500+ emergency simulations across 3 Indian cities. 96.4% correct ambulance selection under mixed traffic. Load tested at 200 concurrent requests with &lt;2s response. False allocation rate reduced to 1.8%.</a:t>
            </a:r>
          </a:p>
        </p:txBody>
      </p:sp>
      <p:grpSp>
        <p:nvGrpSpPr>
          <p:cNvPr name="Group 11" id="11"/>
          <p:cNvGrpSpPr/>
          <p:nvPr/>
        </p:nvGrpSpPr>
        <p:grpSpPr>
          <a:xfrm rot="0">
            <a:off x="17259300" y="6900319"/>
            <a:ext cx="2357981" cy="2357981"/>
            <a:chOff x="0" y="0"/>
            <a:chExt cx="673100" cy="673100"/>
          </a:xfrm>
        </p:grpSpPr>
        <p:sp>
          <p:nvSpPr>
            <p:cNvPr name="Freeform 12" id="12"/>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3" id="13"/>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574612" y="5995903"/>
            <a:ext cx="5307509" cy="4278922"/>
          </a:xfrm>
          <a:custGeom>
            <a:avLst/>
            <a:gdLst/>
            <a:ahLst/>
            <a:cxnLst/>
            <a:rect r="r" b="b" t="t" l="l"/>
            <a:pathLst>
              <a:path h="4278922" w="5307509">
                <a:moveTo>
                  <a:pt x="0" y="0"/>
                </a:moveTo>
                <a:lnTo>
                  <a:pt x="5307509" y="0"/>
                </a:lnTo>
                <a:lnTo>
                  <a:pt x="5307509" y="4278922"/>
                </a:lnTo>
                <a:lnTo>
                  <a:pt x="0" y="4278922"/>
                </a:lnTo>
                <a:lnTo>
                  <a:pt x="0" y="0"/>
                </a:lnTo>
                <a:close/>
              </a:path>
            </a:pathLst>
          </a:custGeom>
          <a:blipFill>
            <a:blip r:embed="rId4"/>
            <a:stretch>
              <a:fillRect l="0" t="0" r="0" b="0"/>
            </a:stretch>
          </a:blipFill>
        </p:spPr>
      </p:sp>
      <p:sp>
        <p:nvSpPr>
          <p:cNvPr name="Freeform 4" id="4"/>
          <p:cNvSpPr/>
          <p:nvPr/>
        </p:nvSpPr>
        <p:spPr>
          <a:xfrm flipH="false" flipV="false" rot="0">
            <a:off x="13231948" y="6426041"/>
            <a:ext cx="3877061" cy="3426353"/>
          </a:xfrm>
          <a:custGeom>
            <a:avLst/>
            <a:gdLst/>
            <a:ahLst/>
            <a:cxnLst/>
            <a:rect r="r" b="b" t="t" l="l"/>
            <a:pathLst>
              <a:path h="3426353" w="3877061">
                <a:moveTo>
                  <a:pt x="0" y="0"/>
                </a:moveTo>
                <a:lnTo>
                  <a:pt x="3877061" y="0"/>
                </a:lnTo>
                <a:lnTo>
                  <a:pt x="3877061" y="3426353"/>
                </a:lnTo>
                <a:lnTo>
                  <a:pt x="0" y="3426353"/>
                </a:lnTo>
                <a:lnTo>
                  <a:pt x="0" y="0"/>
                </a:lnTo>
                <a:close/>
              </a:path>
            </a:pathLst>
          </a:custGeom>
          <a:blipFill>
            <a:blip r:embed="rId5"/>
            <a:stretch>
              <a:fillRect l="0" t="0" r="0" b="0"/>
            </a:stretch>
          </a:blipFill>
        </p:spPr>
      </p:sp>
      <p:sp>
        <p:nvSpPr>
          <p:cNvPr name="Freeform 5" id="5"/>
          <p:cNvSpPr/>
          <p:nvPr/>
        </p:nvSpPr>
        <p:spPr>
          <a:xfrm flipH="false" flipV="false" rot="0">
            <a:off x="1876443" y="6171185"/>
            <a:ext cx="2287838" cy="3936066"/>
          </a:xfrm>
          <a:custGeom>
            <a:avLst/>
            <a:gdLst/>
            <a:ahLst/>
            <a:cxnLst/>
            <a:rect r="r" b="b" t="t" l="l"/>
            <a:pathLst>
              <a:path h="3936066" w="2287838">
                <a:moveTo>
                  <a:pt x="0" y="0"/>
                </a:moveTo>
                <a:lnTo>
                  <a:pt x="2287839" y="0"/>
                </a:lnTo>
                <a:lnTo>
                  <a:pt x="2287839" y="3936066"/>
                </a:lnTo>
                <a:lnTo>
                  <a:pt x="0" y="3936066"/>
                </a:lnTo>
                <a:lnTo>
                  <a:pt x="0" y="0"/>
                </a:lnTo>
                <a:close/>
              </a:path>
            </a:pathLst>
          </a:custGeom>
          <a:blipFill>
            <a:blip r:embed="rId6"/>
            <a:stretch>
              <a:fillRect l="0" t="0" r="0" b="0"/>
            </a:stretch>
          </a:blipFill>
        </p:spPr>
      </p:sp>
      <p:sp>
        <p:nvSpPr>
          <p:cNvPr name="TextBox 6" id="6"/>
          <p:cNvSpPr txBox="true"/>
          <p:nvPr/>
        </p:nvSpPr>
        <p:spPr>
          <a:xfrm rot="0">
            <a:off x="3237749" y="219075"/>
            <a:ext cx="11270900" cy="2485226"/>
          </a:xfrm>
          <a:prstGeom prst="rect">
            <a:avLst/>
          </a:prstGeom>
        </p:spPr>
        <p:txBody>
          <a:bodyPr anchor="t" rtlCol="false" tIns="0" lIns="0" bIns="0" rIns="0">
            <a:spAutoFit/>
          </a:bodyPr>
          <a:lstStyle/>
          <a:p>
            <a:pPr algn="ctr" marL="0" indent="0" lvl="0">
              <a:lnSpc>
                <a:spcPts val="9057"/>
              </a:lnSpc>
            </a:pPr>
            <a:r>
              <a:rPr lang="en-US" b="true" sz="10292">
                <a:solidFill>
                  <a:srgbClr val="34322B"/>
                </a:solidFill>
                <a:latin typeface="Calmius Sans High Bold"/>
                <a:ea typeface="Calmius Sans High Bold"/>
                <a:cs typeface="Calmius Sans High Bold"/>
                <a:sym typeface="Calmius Sans High Bold"/>
              </a:rPr>
              <a:t>CONCLUSION &amp;</a:t>
            </a:r>
          </a:p>
          <a:p>
            <a:pPr algn="ctr" marL="0" indent="0" lvl="0">
              <a:lnSpc>
                <a:spcPts val="9057"/>
              </a:lnSpc>
            </a:pPr>
            <a:r>
              <a:rPr lang="en-US" b="true" sz="10292">
                <a:solidFill>
                  <a:srgbClr val="34322B"/>
                </a:solidFill>
                <a:latin typeface="Calmius Sans High Bold"/>
                <a:ea typeface="Calmius Sans High Bold"/>
                <a:cs typeface="Calmius Sans High Bold"/>
                <a:sym typeface="Calmius Sans High Bold"/>
              </a:rPr>
              <a:t>FUTURE SCOPE</a:t>
            </a:r>
          </a:p>
        </p:txBody>
      </p:sp>
      <p:sp>
        <p:nvSpPr>
          <p:cNvPr name="TextBox 7" id="7"/>
          <p:cNvSpPr txBox="true"/>
          <p:nvPr/>
        </p:nvSpPr>
        <p:spPr>
          <a:xfrm rot="0">
            <a:off x="1787958" y="2751926"/>
            <a:ext cx="14170483" cy="2874276"/>
          </a:xfrm>
          <a:prstGeom prst="rect">
            <a:avLst/>
          </a:prstGeom>
        </p:spPr>
        <p:txBody>
          <a:bodyPr anchor="t" rtlCol="false" tIns="0" lIns="0" bIns="0" rIns="0">
            <a:spAutoFit/>
          </a:bodyPr>
          <a:lstStyle/>
          <a:p>
            <a:pPr algn="just" marL="0" indent="0" lvl="0">
              <a:lnSpc>
                <a:spcPts val="3271"/>
              </a:lnSpc>
            </a:pPr>
            <a:r>
              <a:rPr lang="en-US" b="true" sz="3086">
                <a:solidFill>
                  <a:srgbClr val="34322B"/>
                </a:solidFill>
                <a:latin typeface="Circe Bold"/>
                <a:ea typeface="Circe Bold"/>
                <a:cs typeface="Circe Bold"/>
                <a:sym typeface="Circe Bold"/>
              </a:rPr>
              <a:t>The proposed system successfully selects the optimal ambulance and route by integrating severity scoring, real-time distance, traffic conditions, and ambulance availability — reducing emergency response time across Indian cities. Future enhancements include: predictive demand forecasting using historical data, dynamic rerouting via live GPS/IoT feeds, hospital-bed availability integration, multilingual Indian interface (Hindi, Tamil, Telugu), and expansion to Tier-2 and Tier-3 cities for broader national coverage.</a:t>
            </a:r>
          </a:p>
        </p:txBody>
      </p:sp>
      <p:grpSp>
        <p:nvGrpSpPr>
          <p:cNvPr name="Group 8" id="8"/>
          <p:cNvGrpSpPr/>
          <p:nvPr/>
        </p:nvGrpSpPr>
        <p:grpSpPr>
          <a:xfrm rot="0">
            <a:off x="17109009" y="616734"/>
            <a:ext cx="2357981" cy="2357981"/>
            <a:chOff x="0" y="0"/>
            <a:chExt cx="673100" cy="673100"/>
          </a:xfrm>
        </p:grpSpPr>
        <p:sp>
          <p:nvSpPr>
            <p:cNvPr name="Freeform 9" id="9"/>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0" id="10"/>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11" id="11"/>
          <p:cNvGrpSpPr/>
          <p:nvPr/>
        </p:nvGrpSpPr>
        <p:grpSpPr>
          <a:xfrm rot="0">
            <a:off x="879768" y="-1178991"/>
            <a:ext cx="2357981" cy="2357981"/>
            <a:chOff x="0" y="0"/>
            <a:chExt cx="673100" cy="673100"/>
          </a:xfrm>
        </p:grpSpPr>
        <p:sp>
          <p:nvSpPr>
            <p:cNvPr name="Freeform 12" id="12"/>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13" id="13"/>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3B595"/>
        </a:solidFill>
      </p:bgPr>
    </p:bg>
    <p:spTree>
      <p:nvGrpSpPr>
        <p:cNvPr id="1" name=""/>
        <p:cNvGrpSpPr/>
        <p:nvPr/>
      </p:nvGrpSpPr>
      <p:grpSpPr>
        <a:xfrm>
          <a:off x="0" y="0"/>
          <a:ext cx="0" cy="0"/>
          <a:chOff x="0" y="0"/>
          <a:chExt cx="0" cy="0"/>
        </a:xfrm>
      </p:grpSpPr>
      <p:sp>
        <p:nvSpPr>
          <p:cNvPr name="Freeform 2" id="2"/>
          <p:cNvSpPr/>
          <p:nvPr/>
        </p:nvSpPr>
        <p:spPr>
          <a:xfrm flipH="false" flipV="false" rot="0">
            <a:off x="-1825680" y="-1023733"/>
            <a:ext cx="21939360" cy="12334466"/>
          </a:xfrm>
          <a:custGeom>
            <a:avLst/>
            <a:gdLst/>
            <a:ahLst/>
            <a:cxnLst/>
            <a:rect r="r" b="b" t="t" l="l"/>
            <a:pathLst>
              <a:path h="12334466" w="21939360">
                <a:moveTo>
                  <a:pt x="0" y="0"/>
                </a:moveTo>
                <a:lnTo>
                  <a:pt x="21939360" y="0"/>
                </a:lnTo>
                <a:lnTo>
                  <a:pt x="21939360" y="12334466"/>
                </a:lnTo>
                <a:lnTo>
                  <a:pt x="0" y="12334466"/>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97964" y="4609346"/>
            <a:ext cx="2764029" cy="5295909"/>
          </a:xfrm>
          <a:custGeom>
            <a:avLst/>
            <a:gdLst/>
            <a:ahLst/>
            <a:cxnLst/>
            <a:rect r="r" b="b" t="t" l="l"/>
            <a:pathLst>
              <a:path h="5295909" w="2764029">
                <a:moveTo>
                  <a:pt x="0" y="0"/>
                </a:moveTo>
                <a:lnTo>
                  <a:pt x="2764029" y="0"/>
                </a:lnTo>
                <a:lnTo>
                  <a:pt x="2764029" y="5295908"/>
                </a:lnTo>
                <a:lnTo>
                  <a:pt x="0" y="5295908"/>
                </a:lnTo>
                <a:lnTo>
                  <a:pt x="0" y="0"/>
                </a:lnTo>
                <a:close/>
              </a:path>
            </a:pathLst>
          </a:custGeom>
          <a:blipFill>
            <a:blip r:embed="rId4"/>
            <a:stretch>
              <a:fillRect l="0" t="0" r="0" b="0"/>
            </a:stretch>
          </a:blipFill>
        </p:spPr>
      </p:sp>
      <p:grpSp>
        <p:nvGrpSpPr>
          <p:cNvPr name="Group 4" id="4"/>
          <p:cNvGrpSpPr/>
          <p:nvPr/>
        </p:nvGrpSpPr>
        <p:grpSpPr>
          <a:xfrm rot="0">
            <a:off x="17109009" y="5143500"/>
            <a:ext cx="2357981" cy="2357981"/>
            <a:chOff x="0" y="0"/>
            <a:chExt cx="673100" cy="673100"/>
          </a:xfrm>
        </p:grpSpPr>
        <p:sp>
          <p:nvSpPr>
            <p:cNvPr name="Freeform 5" id="5"/>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6" id="6"/>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grpSp>
        <p:nvGrpSpPr>
          <p:cNvPr name="Group 7" id="7"/>
          <p:cNvGrpSpPr/>
          <p:nvPr/>
        </p:nvGrpSpPr>
        <p:grpSpPr>
          <a:xfrm rot="0">
            <a:off x="-1329281" y="5359562"/>
            <a:ext cx="2357981" cy="2357981"/>
            <a:chOff x="0" y="0"/>
            <a:chExt cx="673100" cy="673100"/>
          </a:xfrm>
        </p:grpSpPr>
        <p:sp>
          <p:nvSpPr>
            <p:cNvPr name="Freeform 8" id="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D3B595"/>
            </a:solidFill>
          </p:spPr>
        </p:sp>
        <p:sp>
          <p:nvSpPr>
            <p:cNvPr name="TextBox 9" id="9"/>
            <p:cNvSpPr txBox="true"/>
            <p:nvPr/>
          </p:nvSpPr>
          <p:spPr>
            <a:xfrm>
              <a:off x="165100" y="241300"/>
              <a:ext cx="342900" cy="266700"/>
            </a:xfrm>
            <a:prstGeom prst="rect">
              <a:avLst/>
            </a:prstGeom>
          </p:spPr>
          <p:txBody>
            <a:bodyPr anchor="ctr" rtlCol="false" tIns="50800" lIns="50800" bIns="50800" rIns="50800"/>
            <a:lstStyle/>
            <a:p>
              <a:pPr algn="ctr" marL="0" indent="0" lvl="0">
                <a:lnSpc>
                  <a:spcPts val="2234"/>
                </a:lnSpc>
              </a:pPr>
            </a:p>
          </p:txBody>
        </p:sp>
      </p:grpSp>
      <p:sp>
        <p:nvSpPr>
          <p:cNvPr name="Freeform 10" id="10"/>
          <p:cNvSpPr/>
          <p:nvPr/>
        </p:nvSpPr>
        <p:spPr>
          <a:xfrm flipH="false" flipV="false" rot="0">
            <a:off x="12304842" y="4823369"/>
            <a:ext cx="4003451" cy="5251929"/>
          </a:xfrm>
          <a:custGeom>
            <a:avLst/>
            <a:gdLst/>
            <a:ahLst/>
            <a:cxnLst/>
            <a:rect r="r" b="b" t="t" l="l"/>
            <a:pathLst>
              <a:path h="5251929" w="4003451">
                <a:moveTo>
                  <a:pt x="0" y="0"/>
                </a:moveTo>
                <a:lnTo>
                  <a:pt x="4003451" y="0"/>
                </a:lnTo>
                <a:lnTo>
                  <a:pt x="4003451" y="5251928"/>
                </a:lnTo>
                <a:lnTo>
                  <a:pt x="0" y="5251928"/>
                </a:lnTo>
                <a:lnTo>
                  <a:pt x="0" y="0"/>
                </a:lnTo>
                <a:close/>
              </a:path>
            </a:pathLst>
          </a:custGeom>
          <a:blipFill>
            <a:blip r:embed="rId5"/>
            <a:stretch>
              <a:fillRect l="0" t="0" r="0" b="0"/>
            </a:stretch>
          </a:blipFill>
        </p:spPr>
      </p:sp>
      <p:sp>
        <p:nvSpPr>
          <p:cNvPr name="Freeform 11" id="11"/>
          <p:cNvSpPr/>
          <p:nvPr/>
        </p:nvSpPr>
        <p:spPr>
          <a:xfrm flipH="false" flipV="false" rot="0">
            <a:off x="1121936" y="6594895"/>
            <a:ext cx="4529800" cy="2899072"/>
          </a:xfrm>
          <a:custGeom>
            <a:avLst/>
            <a:gdLst/>
            <a:ahLst/>
            <a:cxnLst/>
            <a:rect r="r" b="b" t="t" l="l"/>
            <a:pathLst>
              <a:path h="2899072" w="4529800">
                <a:moveTo>
                  <a:pt x="0" y="0"/>
                </a:moveTo>
                <a:lnTo>
                  <a:pt x="4529800" y="0"/>
                </a:lnTo>
                <a:lnTo>
                  <a:pt x="4529800" y="2899071"/>
                </a:lnTo>
                <a:lnTo>
                  <a:pt x="0" y="2899071"/>
                </a:lnTo>
                <a:lnTo>
                  <a:pt x="0" y="0"/>
                </a:lnTo>
                <a:close/>
              </a:path>
            </a:pathLst>
          </a:custGeom>
          <a:blipFill>
            <a:blip r:embed="rId6"/>
            <a:stretch>
              <a:fillRect l="0" t="0" r="0" b="0"/>
            </a:stretch>
          </a:blipFill>
        </p:spPr>
      </p:sp>
      <p:sp>
        <p:nvSpPr>
          <p:cNvPr name="TextBox 12" id="12"/>
          <p:cNvSpPr txBox="true"/>
          <p:nvPr/>
        </p:nvSpPr>
        <p:spPr>
          <a:xfrm rot="0">
            <a:off x="205300" y="1588442"/>
            <a:ext cx="17877399" cy="2537303"/>
          </a:xfrm>
          <a:prstGeom prst="rect">
            <a:avLst/>
          </a:prstGeom>
        </p:spPr>
        <p:txBody>
          <a:bodyPr anchor="t" rtlCol="false" tIns="0" lIns="0" bIns="0" rIns="0">
            <a:spAutoFit/>
          </a:bodyPr>
          <a:lstStyle/>
          <a:p>
            <a:pPr algn="ctr" marL="0" indent="0" lvl="0">
              <a:lnSpc>
                <a:spcPts val="17056"/>
              </a:lnSpc>
            </a:pPr>
            <a:r>
              <a:rPr lang="en-US" b="true" sz="19382">
                <a:solidFill>
                  <a:srgbClr val="34322B"/>
                </a:solidFill>
                <a:latin typeface="Calmius Sans High Bold"/>
                <a:ea typeface="Calmius Sans High Bold"/>
                <a:cs typeface="Calmius Sans High Bold"/>
                <a:sym typeface="Calmius Sans High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DAHW7OP2WV0</dc:identifier>
  <dcterms:modified xsi:type="dcterms:W3CDTF">2011-08-01T06:04:30Z</dcterms:modified>
  <cp:revision>1</cp:revision>
  <dc:title>PRESENTED BY TEAM 9</dc:title>
</cp:coreProperties>
</file>